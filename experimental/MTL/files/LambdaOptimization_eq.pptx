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3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190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Optimization Strategy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2011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Graph-Fused Multitask Inferelator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options: Fixed Ratio  |  EBIC Grid  |  2D bStARS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0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Extension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365760"/>
            <a:ext cx="1280160" cy="1280160"/>
          </a:xfrm>
          <a:prstGeom prst="ellipse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66560" y="1920240"/>
            <a:ext cx="914400" cy="914400"/>
          </a:xfrm>
          <a:prstGeom prst="ellipse">
            <a:avLst/>
          </a:prstGeom>
          <a:solidFill>
            <a:srgbClr val="C47F00">
              <a:alpha val="60000"/>
            </a:srgbClr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0" y="2651760"/>
            <a:ext cx="1097280" cy="1097280"/>
          </a:xfrm>
          <a:prstGeom prst="ellipse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"/>
            <a:ext cx="9144000" cy="457497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378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Two-Lambda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70050"/>
            <a:ext cx="8520275" cy="639337"/>
          </a:xfrm>
          <a:prstGeom prst="rect">
            <a:avLst/>
          </a:prstGeom>
          <a:solidFill>
            <a:srgbClr val="0D1B2A">
              <a:alpha val="6000"/>
            </a:srgbClr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411480" y="613448"/>
                <a:ext cx="8229600" cy="572429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sz="15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sz="150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sz="1500">
                              <a:latin typeface="Cambria Math" panose="02040503050406030204" pitchFamily="18" charset="0"/>
                            </a:rPr>
                            <m:t>𝑤</m:t>
                          </m:r>
                        </m:lim>
                      </m:limLow>
                      <m:r>
                        <a:rPr sz="1500">
                          <a:latin typeface="Cambria Math" panose="02040503050406030204" pitchFamily="18" charset="0"/>
                        </a:rPr>
                        <m:t> </m:t>
                      </m:r>
                      <m:f>
                        <m:f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15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sz="150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150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sz="15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sz="150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</m:nary>
                      <m:sSubSup>
                        <m:sSubSup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50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sz="15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5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sup>
                      </m:sSubSup>
                      <m:r>
                        <a:rPr sz="150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5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d>
                            <m:dPr>
                              <m:ctrlPr>
                                <a:rPr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5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sz="150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5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15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5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50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sz="15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sz="15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sz="15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50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sz="150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150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sz="1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150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sz="15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1500">
                                      <a:latin typeface="Cambria Math" panose="02040503050406030204" pitchFamily="18" charset="0"/>
                                    </a:rPr>
                                    <m:t>𝛷</m:t>
                                  </m:r>
                                </m:e>
                                <m:sub>
                                  <m:r>
                                    <a:rPr sz="15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sz="15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sz="150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150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sz="15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sz="15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sz="150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sz="15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50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sz="150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5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sz="15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sz="15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sz="15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sz="15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sz="1500">
                              <a:latin typeface="Cambria Math" panose="02040503050406030204" pitchFamily="18" charset="0"/>
                            </a:rPr>
                            <m:t>ℰ</m:t>
                          </m:r>
                        </m:sub>
                        <m:sup>
                          <m:r>
                            <a:rPr sz="15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sz="1500">
                              <a:latin typeface="Cambria Math" panose="02040503050406030204" pitchFamily="18" charset="0"/>
                            </a:rPr>
                            <m:t>sim</m:t>
                          </m:r>
                        </m:e>
                      </m:nary>
                      <m:d>
                        <m:d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50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1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150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150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sz="1500">
                          <a:latin typeface="Cambria Math" panose="02040503050406030204" pitchFamily="18" charset="0"/>
                        </a:rPr>
                        <m:t>∥</m:t>
                      </m:r>
                      <m:sSup>
                        <m:sSup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5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d>
                            <m:dPr>
                              <m:ctrlPr>
                                <a:rPr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5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sup>
                      </m:sSup>
                      <m:r>
                        <a:rPr sz="150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5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d>
                            <m:dPr>
                              <m:ctrlPr>
                                <a:rPr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5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sz="15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sup>
                      </m:sSup>
                      <m:sSub>
                        <m:sSub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50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sz="15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50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13448"/>
                <a:ext cx="8229600" cy="572429"/>
              </a:xfrm>
              <a:prstGeom prst="rect">
                <a:avLst/>
              </a:prstGeom>
              <a:blipFill>
                <a:blip r:embed="rId3"/>
                <a:stretch>
                  <a:fillRect t="-147826" b="-19782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274320" y="1572768"/>
            <a:ext cx="416052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109728" cy="2651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457200" y="1636776"/>
                <a:ext cx="384048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1" i="1" smtClean="0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00A89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— Sparsity</a:t>
                </a:r>
                <a:endParaRPr lang="en-US" sz="14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36776"/>
                <a:ext cx="3840480" cy="384048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457200" y="2084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Controls how sparse each task network 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5877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Prior lowers penalty for known edges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bStARS selects this in single-task setting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5935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Status: SOLVED by bStARS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572768"/>
            <a:ext cx="416052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C4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1572768"/>
            <a:ext cx="109728" cy="2651760"/>
          </a:xfrm>
          <a:prstGeom prst="rect">
            <a:avLst/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4892040" y="1636776"/>
                <a:ext cx="3840480" cy="38404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1" i="1" smtClean="0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C47F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— Fusion</a:t>
                </a:r>
                <a:endParaRPr lang="en-US" sz="1400" dirty="0"/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040" y="1636776"/>
                <a:ext cx="3840480" cy="384048"/>
              </a:xfrm>
              <a:prstGeom prst="rect">
                <a:avLst/>
              </a:prstGeom>
              <a:blipFill>
                <a:blip r:embed="rId5"/>
                <a:stretch>
                  <a:fillRect b="-645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14"/>
          <p:cNvSpPr/>
          <p:nvPr/>
        </p:nvSpPr>
        <p:spPr>
          <a:xfrm>
            <a:off x="4892040" y="20848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Controls strength of cross-task coupling</a:t>
            </a:r>
            <a:endParaRPr lang="en-US" sz="11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5"/>
              <p:cNvSpPr/>
              <p:nvPr/>
            </p:nvSpPr>
            <p:spPr>
              <a:xfrm>
                <a:off x="4892040" y="2587752"/>
                <a:ext cx="38404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15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—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00" b="1" i="1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1" i="1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  <m:t>f</m:t>
                        </m:r>
                      </m:sub>
                    </m:sSub>
                    <m:r>
                      <a:rPr lang="en-US" sz="1200" b="1" i="1">
                        <a:solidFill>
                          <a:srgbClr val="00A896"/>
                        </a:solidFill>
                        <a:latin typeface="Cambria Math" panose="02040503050406030204" pitchFamily="18" charset="0"/>
                        <a:cs typeface="Calibri" pitchFamily="34" charset="-120"/>
                      </a:rPr>
                      <m:t> </m:t>
                    </m:r>
                  </m:oMath>
                </a14:m>
                <a:r>
                  <a:rPr lang="en-US" sz="115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means tasks share more structure</a:t>
                </a:r>
                <a:endParaRPr lang="en-US" sz="1150" dirty="0"/>
              </a:p>
            </p:txBody>
          </p:sp>
        </mc:Choice>
        <mc:Fallback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040" y="2587752"/>
                <a:ext cx="3840480" cy="457200"/>
              </a:xfrm>
              <a:prstGeom prst="rect">
                <a:avLst/>
              </a:prstGeom>
              <a:blipFill>
                <a:blip r:embed="rId6"/>
                <a:stretch>
                  <a:fillRect l="-33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489204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bStARS analogue exists natively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5935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Status: THE PROBLEM TO SOLVE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370832"/>
            <a:ext cx="8595360" cy="54864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9"/>
              <p:cNvSpPr/>
              <p:nvPr/>
            </p:nvSpPr>
            <p:spPr>
              <a:xfrm>
                <a:off x="411480" y="4416552"/>
                <a:ext cx="832104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100" i="1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Key challenge: the two parameters are not independent —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100" b="1" i="1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1" smtClean="0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sz="1100" i="1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shifts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100" b="1" i="1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1" i="1" smtClean="0">
                            <a:solidFill>
                              <a:srgbClr val="00A89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itchFamily="34" charset="-12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sz="1100" i="1" dirty="0">
                    <a:solidFill>
                      <a:srgbClr val="0D1B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changes. All three strategies account for this.</a:t>
                </a:r>
                <a:endParaRPr lang="en-US" sz="1100" dirty="0"/>
              </a:p>
            </p:txBody>
          </p:sp>
        </mc:Choice>
        <mc:Fallback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416552"/>
                <a:ext cx="832104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— Fixed Ratio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54964"/>
            <a:ext cx="8595360" cy="566928"/>
          </a:xfrm>
          <a:prstGeom prst="rect">
            <a:avLst/>
          </a:prstGeom>
          <a:solidFill>
            <a:srgbClr val="0D1B2A">
              <a:alpha val="6000"/>
            </a:srgbClr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457200" y="928116"/>
                <a:ext cx="8229600" cy="4023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  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m:rPr>
                          <m:nor/>
                        </m:rPr>
                        <a:rPr/>
                        <m:t>user</m:t>
                      </m:r>
                      <m:r>
                        <m:rPr>
                          <m:nor/>
                        </m:rPr>
                        <a:rPr/>
                        <m:t>−</m:t>
                      </m:r>
                      <m:r>
                        <m:rPr>
                          <m:nor/>
                        </m:rPr>
                        <a:rPr/>
                        <m:t>defined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28116"/>
                <a:ext cx="8229600" cy="402336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274320" y="1508760"/>
            <a:ext cx="40233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bStARS warm start finds L_s search range</a:t>
            </a:r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365760" y="2468880"/>
                <a:ext cx="3794760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2.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110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sz="1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alpha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110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at every grid point</a:t>
                </a:r>
                <a:endParaRPr lang="en-US" sz="110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2468880"/>
                <a:ext cx="3794760" cy="4389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365760" y="2944368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ADMM runs with both penalties coupled</a:t>
            </a:r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365760" y="3419856"/>
                <a:ext cx="3794760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4. bStARS selects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00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at instability target</a:t>
                </a:r>
                <a:endParaRPr lang="en-US" sz="11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3419856"/>
                <a:ext cx="3794760" cy="4389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365760" y="3895344"/>
                <a:ext cx="3794760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5.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110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is fully determined by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100" dirty="0"/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3895344"/>
                <a:ext cx="3794760" cy="4389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365760" y="4370832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 lambdaOpt = :fixed_ratio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508760"/>
            <a:ext cx="40233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4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5727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alpha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99339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99339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fusion — independent LASSO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59736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0.1-0.3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459736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coupling, heterogeneous tasks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0.5-1.0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92608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coupling, similar tasks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39242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39242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0.1, validate on gold standard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85876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85876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added cost over original bStARS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32511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432511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is arbitrary; misspec affects all tasks</a:t>
            </a:r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26"/>
              <p:cNvSpPr/>
              <p:nvPr/>
            </p:nvSpPr>
            <p:spPr>
              <a:xfrm>
                <a:off x="274320" y="4892040"/>
                <a:ext cx="859536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100" i="1" dirty="0">
                    <a:solidFill>
                      <a:srgbClr val="8899A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Verdict: Fastest. Least principled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110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100" i="1" dirty="0">
                    <a:solidFill>
                      <a:srgbClr val="8899A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Best for initial exploration.</a:t>
                </a:r>
                <a:endParaRPr lang="en-US" sz="1100" dirty="0"/>
              </a:p>
            </p:txBody>
          </p:sp>
        </mc:Choice>
        <mc:Fallback>
          <p:sp>
            <p:nvSpPr>
              <p:cNvPr id="28" name="Tex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4892040"/>
                <a:ext cx="8595360" cy="274320"/>
              </a:xfrm>
              <a:prstGeom prst="rect">
                <a:avLst/>
              </a:prstGeom>
              <a:blipFill>
                <a:blip r:embed="rId7"/>
                <a:stretch>
                  <a:fillRect b="-434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"/>
            <a:ext cx="9144000" cy="502920"/>
          </a:xfrm>
          <a:prstGeom prst="rect">
            <a:avLst/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— EBIC Grid Search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365760" y="594360"/>
                <a:ext cx="8275320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EBIC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f>
                                <m:f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RSS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 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594360"/>
                <a:ext cx="8275320" cy="777240"/>
              </a:xfrm>
              <a:prstGeom prst="rect">
                <a:avLst/>
              </a:prstGeom>
              <a:blipFill>
                <a:blip r:embed="rId3"/>
                <a:stretch>
                  <a:fillRect t="-119355" b="-16612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274320" y="1618488"/>
            <a:ext cx="2743200" cy="2816352"/>
          </a:xfrm>
          <a:prstGeom prst="rect">
            <a:avLst/>
          </a:prstGeom>
          <a:solidFill>
            <a:srgbClr val="FFFFFF"/>
          </a:solidFill>
          <a:ln w="25400">
            <a:solidFill>
              <a:srgbClr val="C4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5760" y="16367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6550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2D grid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2560320" cy="0"/>
          </a:xfrm>
          <a:prstGeom prst="line">
            <a:avLst/>
          </a:prstGeom>
          <a:noFill/>
          <a:ln w="1016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365760" y="2176272"/>
                <a:ext cx="2560320" cy="21031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Log-scale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110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in [0.01, 10]</a:t>
                </a:r>
                <a:endParaRPr lang="en-US" sz="1100" dirty="0"/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= L_f/L_s in [0.05, 1.0]</a:t>
                </a:r>
                <a:endParaRPr lang="en-US" sz="1100" dirty="0"/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Enforce (1/2) &lt; L_s/L_f &lt; 1</a:t>
                </a:r>
                <a:endParaRPr lang="en-US" sz="1100" dirty="0"/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rgbClr val="1A2B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Typically 10x10 grid</a:t>
                </a:r>
                <a:endParaRPr lang="en-US" sz="11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2176272"/>
                <a:ext cx="2560320" cy="2103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3154680" y="1572768"/>
            <a:ext cx="2743200" cy="2816352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16367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16550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ADMM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2103120"/>
            <a:ext cx="2560320" cy="0"/>
          </a:xfrm>
          <a:prstGeom prst="line">
            <a:avLst/>
          </a:prstGeom>
          <a:noFill/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217627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grid from high to low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(L_s + L_f) decreasing order.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each point from previous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solution (~80% faster)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2743200" cy="281635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6367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29400" y="16550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min EBIC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103120"/>
            <a:ext cx="2560320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217627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EBIC at each point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(L_s*, L_f*) = argmin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gamma=1 for dense penalty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lambdaOpt = :ebic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Balanced cost and rigor. Recommended for production runs. No gold standard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— 2D bStARS Instability Surface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0D1B2A">
              <a:alpha val="6000"/>
            </a:srgbClr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457200" y="877824"/>
                <a:ext cx="8229600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gene</m:t>
                          </m:r>
                        </m:sub>
                      </m:sSub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ℰ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  </m:t>
                      </m:r>
                      <m:r>
                        <m:rPr>
                          <m:nor/>
                        </m:rPr>
                        <a:rPr/>
                        <m:t>find</m:t>
                      </m:r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m:rPr>
                          <m:nor/>
                        </m:rPr>
                        <a:rPr/>
                        <m:t>contour</m:t>
                      </m:r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m:rPr>
                          <m:nor/>
                        </m:rPr>
                        <a:rPr/>
                        <m:t>at</m:t>
                      </m:r>
                      <m:r>
                        <m:rPr>
                          <m:nor/>
                        </m:rPr>
                        <a:rPr/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gene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877824"/>
                <a:ext cx="8229600" cy="438912"/>
              </a:xfrm>
              <a:prstGeom prst="rect">
                <a:avLst/>
              </a:prstGeom>
              <a:blipFill>
                <a:blip r:embed="rId3"/>
                <a:stretch>
                  <a:fillRect t="-251429" b="-33142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274320" y="1536192"/>
            <a:ext cx="4160520" cy="3273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instability across 2D (L_s, L_f) grid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contour D_gene(L_s,L_f) = 0.05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contour, apply secondary criterion: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7238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max L_s (most sparse network)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41985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max L_f (most fused network)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76732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min EBIC  &lt;-- recommended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11480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Coarse-to-fine: 5x5 then 10x10 refinement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46227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 lambdaOpt = :bstars_2d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536192"/>
            <a:ext cx="4160520" cy="3273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6002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Strongest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02996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exact bStARS criterion used for single-task — no new assumptions added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56032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guarantee applies to BOTH parameters simultaneously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09067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EBIC tiebreaker combines stability with goodness-of-fit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62102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 but most defensible for publication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415137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use: gold-standard benchmarking and final publication 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9560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Most principled. Highest cost. Use for benchmarking and publication.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Recommended Progression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2024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9184" y="859536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804672"/>
            <a:ext cx="2103120" cy="512064"/>
          </a:xfrm>
          <a:prstGeom prst="rect">
            <a:avLst/>
          </a:prstGeom>
          <a:solidFill>
            <a:srgbClr val="00A896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49424" y="859536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Fixed Ratio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804672"/>
            <a:ext cx="2103120" cy="512064"/>
          </a:xfrm>
          <a:prstGeom prst="rect">
            <a:avLst/>
          </a:prstGeom>
          <a:solidFill>
            <a:srgbClr val="C47F00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52544" y="859536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EBIC Grid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804672"/>
            <a:ext cx="2103120" cy="512064"/>
          </a:xfrm>
          <a:prstGeom prst="rect">
            <a:avLst/>
          </a:prstGeom>
          <a:solidFill>
            <a:srgbClr val="C0392B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55664" y="859536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3: 2D bStARS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16736"/>
            <a:ext cx="1920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" y="1353312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(relative)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1316736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49424" y="1353312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1316736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52544" y="1353312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~10-20x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1316736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55664" y="1353312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~50-200x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828800"/>
            <a:ext cx="192024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" y="1865376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L_f principled?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94560" y="1828800"/>
            <a:ext cx="210312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49424" y="1865376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user alpha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1828800"/>
            <a:ext cx="210312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52544" y="1865376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EBIC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1828800"/>
            <a:ext cx="210312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55664" y="1865376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bStARS+EBIC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340864"/>
            <a:ext cx="1920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9184" y="237744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L_s principled?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194560" y="2340864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49424" y="237744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bStARS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7680" y="2340864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52544" y="237744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EBIC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2340864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55664" y="237744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bStARS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852928"/>
            <a:ext cx="192024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9184" y="2889504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guarantee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194560" y="2852928"/>
            <a:ext cx="210312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249424" y="288950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L_s only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97680" y="2852928"/>
            <a:ext cx="210312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52544" y="288950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2852928"/>
            <a:ext cx="2103120" cy="512064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55664" y="288950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parameters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364992"/>
            <a:ext cx="1920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9184" y="3401568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194560" y="3364992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249424" y="34015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97680" y="3364992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352544" y="34015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00800" y="3364992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55664" y="3401568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005072"/>
            <a:ext cx="8595360" cy="868680"/>
          </a:xfrm>
          <a:prstGeom prst="rect">
            <a:avLst/>
          </a:prstGeom>
          <a:solidFill>
            <a:srgbClr val="00A896">
              <a:alpha val="10000"/>
            </a:srgbClr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11480" y="4069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10312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:fixed_ratio (alpha=0.1)  verify pipeline end-to-end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103120" y="4389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:ebic  production networks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57784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:bstars_2d  gold-standard validation only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— Why It Belongs Here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0D1B2A">
              <a:alpha val="6000"/>
            </a:srgbClr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457200" y="877824"/>
                <a:ext cx="822960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𝛷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 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=1:</m:t>
                      </m:r>
                      <m:r>
                        <m:rPr>
                          <m:nor/>
                        </m:rPr>
                        <a:rPr/>
                        <m:t>LASSO</m:t>
                      </m:r>
                      <m:r>
                        <a:rPr>
                          <a:latin typeface="Cambria Math" panose="02040503050406030204" pitchFamily="18" charset="0"/>
                        </a:rPr>
                        <m:t>, 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=0:</m:t>
                      </m:r>
                      <m:r>
                        <m:rPr>
                          <m:nor/>
                        </m:rPr>
                        <a:rPr/>
                        <m:t>ridge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877824"/>
                <a:ext cx="8229600" cy="411480"/>
              </a:xfrm>
              <a:prstGeom prst="rect">
                <a:avLst/>
              </a:prstGeom>
              <a:blipFill>
                <a:blip r:embed="rId3"/>
                <a:stretch>
                  <a:fillRect t="-263636" b="-3606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274320" y="1536192"/>
            <a:ext cx="416052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109728" cy="15727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TF activities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LASSO arbitrarily picks one TF when two have correlated activities. Elastic net distributes weight across both — more biologically interpretable.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536192"/>
            <a:ext cx="416052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C47F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109728" cy="1572768"/>
          </a:xfrm>
          <a:prstGeom prst="rect">
            <a:avLst/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6093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Demerged TFs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993392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mergeDegenerateTFs expands meta-TFs back to individuals, those TFs share identical target sets — perfectly correlated by construction. Elastic net handles this gracefully.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55264"/>
            <a:ext cx="416052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255264"/>
            <a:ext cx="109728" cy="1572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3284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per-task sample size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12464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splitting by cell type, each task may have only 10-20 pseudobulk samples. L2 regularization stabilizes coefficient estimates in this low-sample regime.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255264"/>
            <a:ext cx="416052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3255264"/>
            <a:ext cx="109728" cy="15727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3284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ADMM synergy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712464"/>
            <a:ext cx="38404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W-update already adds a quadratic proximity term (rho/2)||w-Z+U||^2. Elastic net L2 integrates cleanly and improves numerical conditioning of the augmented problem.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— Full Objective &amp; Implementation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804672"/>
          </a:xfrm>
          <a:prstGeom prst="rect">
            <a:avLst/>
          </a:prstGeom>
          <a:solidFill>
            <a:srgbClr val="0D1B2A">
              <a:alpha val="6000"/>
            </a:srgbClr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457200" y="859536"/>
                <a:ext cx="8229600" cy="6583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sz="13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sz="130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sz="1300">
                              <a:latin typeface="Cambria Math" panose="02040503050406030204" pitchFamily="18" charset="0"/>
                            </a:rPr>
                            <m:t>𝑤</m:t>
                          </m:r>
                        </m:lim>
                      </m:limLow>
                      <m:r>
                        <a:rPr sz="1300">
                          <a:latin typeface="Cambria Math" panose="02040503050406030204" pitchFamily="18" charset="0"/>
                        </a:rPr>
                        <m:t> </m:t>
                      </m:r>
                      <m:f>
                        <m:fPr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3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sz="13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sz="130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130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sz="13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a:rPr sz="130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</m:nary>
                      <m:sSubSup>
                        <m:sSubSupPr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30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sz="13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sup>
                      </m:sSubSup>
                      <m:r>
                        <a:rPr sz="130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30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d>
                            <m:dPr>
                              <m:ctrlPr>
                                <a:rPr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sz="130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3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13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130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sz="13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sz="13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sz="13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30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sz="130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300">
                              <a:latin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sz="1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sz="1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sz="1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1300">
                                          <a:latin typeface="Cambria Math" panose="02040503050406030204" pitchFamily="18" charset="0"/>
                                        </a:rPr>
                                        <m:t>𝛷</m:t>
                                      </m:r>
                                    </m:e>
                                    <m:sub>
                                      <m:r>
                                        <a:rPr sz="130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sz="13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sz="130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sz="1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130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sz="130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sz="13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sz="130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sz="13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sz="13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sz="1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sz="13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sz="130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sz="13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sz="13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sz="130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  <m:sup>
                                  <m:r>
                                    <a:rPr sz="13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  <m:r>
                        <a:rPr sz="13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30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sz="130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sz="13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sz="1300">
                              <a:latin typeface="Cambria Math" panose="02040503050406030204" pitchFamily="18" charset="0"/>
                            </a:rPr>
                            <m:t>ℰ</m:t>
                          </m:r>
                        </m:sub>
                        <m:sup>
                          <m:r>
                            <a:rPr sz="13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sz="1300">
                              <a:latin typeface="Cambria Math" panose="02040503050406030204" pitchFamily="18" charset="0"/>
                            </a:rPr>
                            <m:t>sim</m:t>
                          </m:r>
                        </m:e>
                      </m:nary>
                      <m:d>
                        <m:dPr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30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13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130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sz="130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sz="1300">
                          <a:latin typeface="Cambria Math" panose="02040503050406030204" pitchFamily="18" charset="0"/>
                        </a:rPr>
                        <m:t>∥</m:t>
                      </m:r>
                      <m:sSup>
                        <m:sSupPr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3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d>
                            <m:dPr>
                              <m:ctrlPr>
                                <a:rPr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sup>
                      </m:sSup>
                      <m:r>
                        <a:rPr sz="130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30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d>
                            <m:dPr>
                              <m:ctrlPr>
                                <a:rPr sz="13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sz="13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sup>
                      </m:sSup>
                      <m:sSub>
                        <m:sSubPr>
                          <m:ctrlPr>
                            <a:rPr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30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sz="13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30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859536"/>
                <a:ext cx="8229600" cy="658368"/>
              </a:xfrm>
              <a:prstGeom prst="rect">
                <a:avLst/>
              </a:prstGeom>
              <a:blipFill>
                <a:blip r:embed="rId3"/>
                <a:stretch>
                  <a:fillRect t="-92453" b="-14150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274320" y="1719072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75564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elasticNetAlpha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4846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13969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correlated TFs, small per-task 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2103120"/>
            <a:ext cx="4846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0" y="213969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— balanced L1/L2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487168"/>
            <a:ext cx="4846320" cy="384048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52374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Demerged TFs present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0" y="2487168"/>
            <a:ext cx="4846320" cy="384048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0" y="252374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to 0.7 — group correlated predictors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4846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907792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correlated TFs, adequate 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2871216"/>
            <a:ext cx="4846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12080" y="2907792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— near-LASSO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255264"/>
            <a:ext cx="4846320" cy="384048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29184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LASSO behavior desired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3255264"/>
            <a:ext cx="4846320" cy="384048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0" y="329184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— original behavior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8595360" cy="658368"/>
          </a:xfrm>
          <a:prstGeom prst="rect">
            <a:avLst/>
          </a:prstGeom>
          <a:solidFill>
            <a:srgbClr val="1A2B3C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admm.jl W-update — single line change: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959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lsoln = glmnet(augA, augX, penalty_factor=augPenalty, lambda=[lambda_s], alpha=elasticNetAlpha)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462272"/>
            <a:ext cx="8595360" cy="438912"/>
          </a:xfrm>
          <a:prstGeom prst="rect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449884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elasticNetAlpha (L1/L2 mix) is distinct from fusionRatio (L_f = fusionRatio x L_s in Option 1). Both are named explicitly in the codebase to avoid confusion.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52144"/>
            <a:ext cx="320040" cy="320040"/>
          </a:xfrm>
          <a:prstGeom prst="rect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113385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10241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lambdas, not one: 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102412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L_f adds a second parameter that requires joint selection with L_s.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773936"/>
            <a:ext cx="320040" cy="320040"/>
          </a:xfrm>
          <a:prstGeom prst="rect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75564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645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simple: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16459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(fixed ratio, alpha=0.1) costs nothing extra and is sufficient for initial runs.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395728"/>
            <a:ext cx="320040" cy="320040"/>
          </a:xfrm>
          <a:prstGeom prst="rect">
            <a:avLst/>
          </a:prstGeom>
          <a:solidFill>
            <a:srgbClr val="C47F00">
              <a:alpha val="70000"/>
            </a:srgbClr>
          </a:solidFill>
          <a:ln w="12700">
            <a:solidFill>
              <a:srgbClr val="C47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37744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26771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principled for production: 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226771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(EBIC grid) jointly selects both parameters with a well-established criterion.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320040" cy="320040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299923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288950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with bStARS: 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2889504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(2D bStARS) extends the exact stability criterion to both parameters — use for publication.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639312"/>
            <a:ext cx="320040" cy="32004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62102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5112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is a free upgrade: 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63240" y="351129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elasticNetAlpha=0.5 whenever demerged TFs are present or per-task n is small. No new hyperparameter tuning required.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261104"/>
            <a:ext cx="320040" cy="320040"/>
          </a:xfrm>
          <a:prstGeom prst="rect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" y="424281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" y="413308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recommendation: 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63240" y="4133088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lambdaOpt=:fixed_ratio, fusionRatio=0.1, elasticNetAlpha=0.5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1102</Words>
  <Application>Microsoft Macintosh PowerPoint</Application>
  <PresentationFormat>On-screen Show (16:9)</PresentationFormat>
  <Paragraphs>160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Owoeye, Seyifunmi (owoeyesm)</cp:lastModifiedBy>
  <cp:revision>3</cp:revision>
  <dcterms:created xsi:type="dcterms:W3CDTF">2026-03-27T07:05:11Z</dcterms:created>
  <dcterms:modified xsi:type="dcterms:W3CDTF">2026-03-28T22:27:20Z</dcterms:modified>
</cp:coreProperties>
</file>