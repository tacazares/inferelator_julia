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2"/>
    <p:restoredTop sz="94610"/>
  </p:normalViewPr>
  <p:slideViewPr>
    <p:cSldViewPr snapToGrid="0" snapToObjects="1">
      <p:cViewPr varScale="1">
        <p:scale>
          <a:sx n="165" d="100"/>
          <a:sy n="165" d="100"/>
        </p:scale>
        <p:origin x="5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594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txBody>
          <a:bodyPr/>
          <a:lstStyle/>
          <a:p>
            <a:endParaRPr lang="en-US"/>
          </a:p>
        </p:txBody>
      </p:sp>
      <p:sp>
        <p:nvSpPr>
          <p:cNvPr id="3" name="Text 1"/>
          <p:cNvSpPr/>
          <p:nvPr/>
        </p:nvSpPr>
        <p:spPr>
          <a:xfrm>
            <a:off x="411480" y="1097280"/>
            <a:ext cx="6858000" cy="1828800"/>
          </a:xfrm>
          <a:prstGeom prst="rect">
            <a:avLst/>
          </a:prstGeom>
          <a:noFill/>
          <a:ln/>
        </p:spPr>
        <p:txBody>
          <a:bodyPr wrap="square" rtlCol="0" anchor="t"/>
          <a:lstStyle/>
          <a:p>
            <a:pPr marL="0" indent="0" algn="l">
              <a:buNone/>
            </a:pPr>
            <a:r>
              <a:rPr lang="en-US" sz="3400" b="1" dirty="0">
                <a:solidFill>
                  <a:srgbClr val="FFFFFF"/>
                </a:solidFill>
                <a:latin typeface="Calibri" pitchFamily="34" charset="0"/>
                <a:ea typeface="Calibri" pitchFamily="34" charset="-122"/>
                <a:cs typeface="Calibri" pitchFamily="34" charset="-120"/>
              </a:rPr>
              <a:t>Graph-Fused Multitask</a:t>
            </a:r>
            <a:endParaRPr lang="en-US" sz="3400" dirty="0"/>
          </a:p>
          <a:p>
            <a:pPr marL="0" indent="0" algn="l">
              <a:buNone/>
            </a:pPr>
            <a:r>
              <a:rPr lang="en-US" sz="3400" b="1" dirty="0">
                <a:solidFill>
                  <a:srgbClr val="FFFFFF"/>
                </a:solidFill>
                <a:latin typeface="Calibri" pitchFamily="34" charset="0"/>
                <a:ea typeface="Calibri" pitchFamily="34" charset="-122"/>
                <a:cs typeface="Calibri" pitchFamily="34" charset="-120"/>
              </a:rPr>
              <a:t>Gene Regulatory Network Inference</a:t>
            </a:r>
            <a:endParaRPr lang="en-US" sz="3400" dirty="0"/>
          </a:p>
        </p:txBody>
      </p:sp>
      <p:sp>
        <p:nvSpPr>
          <p:cNvPr id="4" name="Text 2"/>
          <p:cNvSpPr/>
          <p:nvPr/>
        </p:nvSpPr>
        <p:spPr>
          <a:xfrm>
            <a:off x="411480" y="3017520"/>
            <a:ext cx="6858000" cy="548640"/>
          </a:xfrm>
          <a:prstGeom prst="rect">
            <a:avLst/>
          </a:prstGeom>
          <a:noFill/>
          <a:ln/>
        </p:spPr>
        <p:txBody>
          <a:bodyPr wrap="square" rtlCol="0" anchor="ctr"/>
          <a:lstStyle/>
          <a:p>
            <a:pPr marL="0" indent="0" algn="l">
              <a:buNone/>
            </a:pPr>
            <a:r>
              <a:rPr lang="en-US" sz="1600" i="1" dirty="0">
                <a:solidFill>
                  <a:srgbClr val="00A896"/>
                </a:solidFill>
                <a:latin typeface="Calibri" pitchFamily="34" charset="0"/>
                <a:ea typeface="Calibri" pitchFamily="34" charset="-122"/>
                <a:cs typeface="Calibri" pitchFamily="34" charset="-120"/>
              </a:rPr>
              <a:t>Extending the Inferelator with Task-Coupled Regularization</a:t>
            </a:r>
            <a:endParaRPr lang="en-US" sz="1600" dirty="0"/>
          </a:p>
        </p:txBody>
      </p:sp>
      <p:sp>
        <p:nvSpPr>
          <p:cNvPr id="5" name="Shape 3"/>
          <p:cNvSpPr/>
          <p:nvPr/>
        </p:nvSpPr>
        <p:spPr>
          <a:xfrm>
            <a:off x="7498080" y="457200"/>
            <a:ext cx="1188720" cy="1188720"/>
          </a:xfrm>
          <a:prstGeom prst="ellipse">
            <a:avLst/>
          </a:prstGeom>
          <a:solidFill>
            <a:srgbClr val="00A896">
              <a:alpha val="70000"/>
            </a:srgbClr>
          </a:solidFill>
          <a:ln w="12700">
            <a:solidFill>
              <a:srgbClr val="00A896"/>
            </a:solidFill>
            <a:prstDash val="solid"/>
          </a:ln>
        </p:spPr>
        <p:txBody>
          <a:bodyPr/>
          <a:lstStyle/>
          <a:p>
            <a:endParaRPr lang="en-US"/>
          </a:p>
        </p:txBody>
      </p:sp>
      <p:sp>
        <p:nvSpPr>
          <p:cNvPr id="6" name="Shape 4"/>
          <p:cNvSpPr/>
          <p:nvPr/>
        </p:nvSpPr>
        <p:spPr>
          <a:xfrm>
            <a:off x="6858000" y="2011680"/>
            <a:ext cx="822960" cy="822960"/>
          </a:xfrm>
          <a:prstGeom prst="ellipse">
            <a:avLst/>
          </a:prstGeom>
          <a:solidFill>
            <a:srgbClr val="02C39A">
              <a:alpha val="60000"/>
            </a:srgbClr>
          </a:solidFill>
          <a:ln w="12700">
            <a:solidFill>
              <a:srgbClr val="02C39A"/>
            </a:solidFill>
            <a:prstDash val="solid"/>
          </a:ln>
        </p:spPr>
        <p:txBody>
          <a:bodyPr/>
          <a:lstStyle/>
          <a:p>
            <a:endParaRPr lang="en-US"/>
          </a:p>
        </p:txBody>
      </p:sp>
      <p:sp>
        <p:nvSpPr>
          <p:cNvPr id="7" name="Shape 5"/>
          <p:cNvSpPr/>
          <p:nvPr/>
        </p:nvSpPr>
        <p:spPr>
          <a:xfrm>
            <a:off x="8046720" y="2560320"/>
            <a:ext cx="1005840" cy="1005840"/>
          </a:xfrm>
          <a:prstGeom prst="ellipse">
            <a:avLst/>
          </a:prstGeom>
          <a:solidFill>
            <a:srgbClr val="F4A261">
              <a:alpha val="60000"/>
            </a:srgbClr>
          </a:solidFill>
          <a:ln w="12700">
            <a:solidFill>
              <a:srgbClr val="F4A261"/>
            </a:solidFill>
            <a:prstDash val="solid"/>
          </a:ln>
        </p:spPr>
        <p:txBody>
          <a:bodyPr/>
          <a:lstStyle/>
          <a:p>
            <a:endParaRPr lang="en-US"/>
          </a:p>
        </p:txBody>
      </p:sp>
      <p:sp>
        <p:nvSpPr>
          <p:cNvPr id="8" name="Shape 6"/>
          <p:cNvSpPr/>
          <p:nvPr/>
        </p:nvSpPr>
        <p:spPr>
          <a:xfrm>
            <a:off x="6583680" y="3566160"/>
            <a:ext cx="731520" cy="731520"/>
          </a:xfrm>
          <a:prstGeom prst="ellipse">
            <a:avLst/>
          </a:prstGeom>
          <a:solidFill>
            <a:srgbClr val="E76F51">
              <a:alpha val="60000"/>
            </a:srgbClr>
          </a:solidFill>
          <a:ln w="12700">
            <a:solidFill>
              <a:srgbClr val="E76F51"/>
            </a:solidFill>
            <a:prstDash val="solid"/>
          </a:ln>
        </p:spPr>
        <p:txBody>
          <a:bodyPr/>
          <a:lstStyle/>
          <a:p>
            <a:endParaRPr lang="en-US"/>
          </a:p>
        </p:txBody>
      </p:sp>
      <p:sp>
        <p:nvSpPr>
          <p:cNvPr id="9" name="Shape 7"/>
          <p:cNvSpPr/>
          <p:nvPr/>
        </p:nvSpPr>
        <p:spPr>
          <a:xfrm>
            <a:off x="7726680" y="1005840"/>
            <a:ext cx="548640" cy="731520"/>
          </a:xfrm>
          <a:prstGeom prst="line">
            <a:avLst/>
          </a:prstGeom>
          <a:noFill/>
          <a:ln w="19050">
            <a:solidFill>
              <a:srgbClr val="D0DDE8"/>
            </a:solidFill>
            <a:prstDash val="solid"/>
          </a:ln>
        </p:spPr>
        <p:txBody>
          <a:bodyPr/>
          <a:lstStyle/>
          <a:p>
            <a:endParaRPr lang="en-US"/>
          </a:p>
        </p:txBody>
      </p:sp>
      <p:sp>
        <p:nvSpPr>
          <p:cNvPr id="10" name="Shape 8"/>
          <p:cNvSpPr/>
          <p:nvPr/>
        </p:nvSpPr>
        <p:spPr>
          <a:xfrm>
            <a:off x="7315200" y="2423160"/>
            <a:ext cx="777240" cy="457200"/>
          </a:xfrm>
          <a:prstGeom prst="line">
            <a:avLst/>
          </a:prstGeom>
          <a:noFill/>
          <a:ln w="19050">
            <a:solidFill>
              <a:srgbClr val="D0DDE8"/>
            </a:solidFill>
            <a:prstDash val="solid"/>
          </a:ln>
        </p:spPr>
        <p:txBody>
          <a:bodyPr/>
          <a:lstStyle/>
          <a:p>
            <a:endParaRPr lang="en-US"/>
          </a:p>
        </p:txBody>
      </p:sp>
      <p:sp>
        <p:nvSpPr>
          <p:cNvPr id="11" name="Shape 9"/>
          <p:cNvSpPr/>
          <p:nvPr/>
        </p:nvSpPr>
        <p:spPr>
          <a:xfrm>
            <a:off x="7132320" y="2423160"/>
            <a:ext cx="274320" cy="1188720"/>
          </a:xfrm>
          <a:prstGeom prst="line">
            <a:avLst/>
          </a:prstGeom>
          <a:noFill/>
          <a:ln w="19050">
            <a:solidFill>
              <a:srgbClr val="D0DDE8"/>
            </a:solidFill>
            <a:prstDash val="solid"/>
          </a:ln>
        </p:spPr>
        <p:txBody>
          <a:bodyPr/>
          <a:lstStyle/>
          <a:p>
            <a:endParaRPr lang="en-US"/>
          </a:p>
        </p:txBody>
      </p:sp>
      <p:sp>
        <p:nvSpPr>
          <p:cNvPr id="12" name="Text 10"/>
          <p:cNvSpPr/>
          <p:nvPr/>
        </p:nvSpPr>
        <p:spPr>
          <a:xfrm>
            <a:off x="411480" y="4663440"/>
            <a:ext cx="8229600" cy="320040"/>
          </a:xfrm>
          <a:prstGeom prst="rect">
            <a:avLst/>
          </a:prstGeom>
          <a:noFill/>
          <a:ln/>
        </p:spPr>
        <p:txBody>
          <a:bodyPr wrap="square" rtlCol="0" anchor="ctr"/>
          <a:lstStyle/>
          <a:p>
            <a:pPr marL="0" indent="0" algn="l">
              <a:buNone/>
            </a:pPr>
            <a:r>
              <a:rPr lang="en-US" sz="1000" dirty="0">
                <a:solidFill>
                  <a:srgbClr val="8899AA"/>
                </a:solidFill>
                <a:latin typeface="Calibri" pitchFamily="34" charset="0"/>
                <a:ea typeface="Calibri" pitchFamily="34" charset="-122"/>
                <a:cs typeface="Calibri" pitchFamily="34" charset="-120"/>
              </a:rPr>
              <a:t>Based on Castro et al. 2019 · Miraldi et al. 2019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Castro et al. 2019 — Multi-Study Inference</a:t>
            </a:r>
            <a:endParaRPr lang="en-US" sz="2000" dirty="0"/>
          </a:p>
        </p:txBody>
      </p:sp>
      <p:sp>
        <p:nvSpPr>
          <p:cNvPr id="4" name="Shape 2"/>
          <p:cNvSpPr/>
          <p:nvPr/>
        </p:nvSpPr>
        <p:spPr>
          <a:xfrm>
            <a:off x="274320" y="868680"/>
            <a:ext cx="8595360" cy="1188720"/>
          </a:xfrm>
          <a:prstGeom prst="rect">
            <a:avLst/>
          </a:prstGeom>
          <a:solidFill>
            <a:srgbClr val="0D1B2A">
              <a:alpha val="8000"/>
            </a:srgbClr>
          </a:solidFill>
          <a:ln w="19050">
            <a:solidFill>
              <a:srgbClr val="00A896"/>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2240280"/>
            <a:ext cx="4023360" cy="21488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65760" y="2331720"/>
            <a:ext cx="3840480" cy="411480"/>
          </a:xfrm>
          <a:prstGeom prst="rect">
            <a:avLst/>
          </a:prstGeom>
          <a:noFill/>
          <a:ln/>
        </p:spPr>
        <p:txBody>
          <a:bodyPr wrap="square"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ℓ₁/ℓ₁ on S  — Dataset-Specific</a:t>
            </a:r>
            <a:endParaRPr lang="en-US" sz="1400" dirty="0"/>
          </a:p>
        </p:txBody>
      </p:sp>
      <p:sp>
        <p:nvSpPr>
          <p:cNvPr id="10" name="Text 8"/>
          <p:cNvSpPr/>
          <p:nvPr/>
        </p:nvSpPr>
        <p:spPr>
          <a:xfrm>
            <a:off x="411480" y="3200400"/>
            <a:ext cx="3749040" cy="1097280"/>
          </a:xfrm>
          <a:prstGeom prst="rect">
            <a:avLst/>
          </a:prstGeom>
          <a:noFill/>
          <a:ln/>
        </p:spPr>
        <p:txBody>
          <a:bodyPr wrap="square" rtlCol="0" anchor="ctr"/>
          <a:lstStyle/>
          <a:p>
            <a:pPr marL="0" indent="0">
              <a:buNone/>
            </a:pPr>
            <a:r>
              <a:rPr lang="en-US" sz="1150" dirty="0">
                <a:solidFill>
                  <a:srgbClr val="1A2B3C"/>
                </a:solidFill>
                <a:latin typeface="Calibri" pitchFamily="34" charset="0"/>
                <a:ea typeface="Calibri" pitchFamily="34" charset="-122"/>
                <a:cs typeface="Calibri" pitchFamily="34" charset="-120"/>
              </a:rPr>
              <a:t>— Element-wise sparsity on S</a:t>
            </a:r>
            <a:endParaRPr lang="en-US" sz="1150" dirty="0"/>
          </a:p>
          <a:p>
            <a:pPr marL="0" indent="0">
              <a:buNone/>
            </a:pPr>
            <a:r>
              <a:rPr lang="en-US" sz="1150" dirty="0">
                <a:solidFill>
                  <a:srgbClr val="1A2B3C"/>
                </a:solidFill>
                <a:latin typeface="Calibri" pitchFamily="34" charset="0"/>
                <a:ea typeface="Calibri" pitchFamily="34" charset="-122"/>
                <a:cs typeface="Calibri" pitchFamily="34" charset="-120"/>
              </a:rPr>
              <a:t>— Each dataset selects its own unique edges</a:t>
            </a:r>
            <a:endParaRPr lang="en-US" sz="1150" dirty="0"/>
          </a:p>
          <a:p>
            <a:pPr marL="0" indent="0">
              <a:buNone/>
            </a:pPr>
            <a:r>
              <a:rPr lang="en-US" sz="1150" dirty="0">
                <a:solidFill>
                  <a:srgbClr val="1A2B3C"/>
                </a:solidFill>
                <a:latin typeface="Calibri" pitchFamily="34" charset="0"/>
                <a:ea typeface="Calibri" pitchFamily="34" charset="-122"/>
                <a:cs typeface="Calibri" pitchFamily="34" charset="-120"/>
              </a:rPr>
              <a:t>— Captures condition-specific interactions</a:t>
            </a:r>
            <a:endParaRPr lang="en-US" sz="1150" dirty="0"/>
          </a:p>
          <a:p>
            <a:pPr marL="0" indent="0">
              <a:buNone/>
            </a:pPr>
            <a:r>
              <a:rPr lang="en-US" sz="1150" dirty="0">
                <a:solidFill>
                  <a:srgbClr val="1A2B3C"/>
                </a:solidFill>
                <a:latin typeface="Calibri" pitchFamily="34" charset="0"/>
                <a:ea typeface="Calibri" pitchFamily="34" charset="-122"/>
                <a:cs typeface="Calibri" pitchFamily="34" charset="-120"/>
              </a:rPr>
              <a:t>— S accommodates differences across datasets</a:t>
            </a:r>
            <a:endParaRPr lang="en-US" sz="1150" dirty="0"/>
          </a:p>
        </p:txBody>
      </p:sp>
      <p:sp>
        <p:nvSpPr>
          <p:cNvPr id="11" name="Shape 9"/>
          <p:cNvSpPr/>
          <p:nvPr/>
        </p:nvSpPr>
        <p:spPr>
          <a:xfrm>
            <a:off x="4846320" y="2240280"/>
            <a:ext cx="4023360" cy="21488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4937760" y="2331720"/>
            <a:ext cx="3840480" cy="411480"/>
          </a:xfrm>
          <a:prstGeom prst="rect">
            <a:avLst/>
          </a:prstGeom>
          <a:noFill/>
          <a:ln/>
        </p:spPr>
        <p:txBody>
          <a:bodyPr wrap="square"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ℓ₁/ℓ∞ on B  — Conserved Component</a:t>
            </a:r>
            <a:endParaRPr lang="en-US" sz="1400" dirty="0"/>
          </a:p>
        </p:txBody>
      </p:sp>
      <p:sp>
        <p:nvSpPr>
          <p:cNvPr id="14" name="Text 12"/>
          <p:cNvSpPr/>
          <p:nvPr/>
        </p:nvSpPr>
        <p:spPr>
          <a:xfrm>
            <a:off x="4983480" y="3200400"/>
            <a:ext cx="3749040" cy="1097280"/>
          </a:xfrm>
          <a:prstGeom prst="rect">
            <a:avLst/>
          </a:prstGeom>
          <a:noFill/>
          <a:ln/>
        </p:spPr>
        <p:txBody>
          <a:bodyPr wrap="square" rtlCol="0" anchor="ctr"/>
          <a:lstStyle/>
          <a:p>
            <a:pPr marL="0" indent="0">
              <a:buNone/>
            </a:pPr>
            <a:r>
              <a:rPr lang="en-US" sz="1150" dirty="0">
                <a:solidFill>
                  <a:srgbClr val="1A2B3C"/>
                </a:solidFill>
                <a:latin typeface="Calibri" pitchFamily="34" charset="0"/>
                <a:ea typeface="Calibri" pitchFamily="34" charset="-122"/>
                <a:cs typeface="Calibri" pitchFamily="34" charset="-120"/>
              </a:rPr>
              <a:t>— Row-sparse penalty on shared B</a:t>
            </a:r>
            <a:endParaRPr lang="en-US" sz="1150" dirty="0"/>
          </a:p>
          <a:p>
            <a:pPr marL="0" indent="0">
              <a:buNone/>
            </a:pPr>
            <a:r>
              <a:rPr lang="en-US" sz="1150" dirty="0">
                <a:solidFill>
                  <a:srgbClr val="1A2B3C"/>
                </a:solidFill>
                <a:latin typeface="Calibri" pitchFamily="34" charset="0"/>
                <a:ea typeface="Calibri" pitchFamily="34" charset="-122"/>
                <a:cs typeface="Calibri" pitchFamily="34" charset="-120"/>
              </a:rPr>
              <a:t>— If a TF matters in any one dataset, B retains it for all</a:t>
            </a:r>
            <a:endParaRPr lang="en-US" sz="1150" dirty="0"/>
          </a:p>
          <a:p>
            <a:pPr marL="0" indent="0">
              <a:buNone/>
            </a:pPr>
            <a:r>
              <a:rPr lang="en-US" sz="1150" dirty="0">
                <a:solidFill>
                  <a:srgbClr val="1A2B3C"/>
                </a:solidFill>
                <a:latin typeface="Calibri" pitchFamily="34" charset="0"/>
                <a:ea typeface="Calibri" pitchFamily="34" charset="-122"/>
                <a:cs typeface="Calibri" pitchFamily="34" charset="-120"/>
              </a:rPr>
              <a:t>— This IS the coupling mechanism</a:t>
            </a:r>
            <a:endParaRPr lang="en-US" sz="1150" dirty="0"/>
          </a:p>
          <a:p>
            <a:pPr marL="0" indent="0">
              <a:buNone/>
            </a:pPr>
            <a:r>
              <a:rPr lang="en-US" sz="1150" dirty="0">
                <a:solidFill>
                  <a:srgbClr val="1A2B3C"/>
                </a:solidFill>
                <a:latin typeface="Calibri" pitchFamily="34" charset="0"/>
                <a:ea typeface="Calibri" pitchFamily="34" charset="-122"/>
                <a:cs typeface="Calibri" pitchFamily="34" charset="-120"/>
              </a:rPr>
              <a:t>— But coupling is uniform — no weighting by task similarity</a:t>
            </a:r>
            <a:endParaRPr lang="en-US" sz="1150" dirty="0"/>
          </a:p>
        </p:txBody>
      </p:sp>
      <p:pic>
        <p:nvPicPr>
          <p:cNvPr id="15" name="Picture 14" descr="castro_obj.png"/>
          <p:cNvPicPr>
            <a:picLocks noChangeAspect="1"/>
          </p:cNvPicPr>
          <p:nvPr/>
        </p:nvPicPr>
        <p:blipFill>
          <a:blip r:embed="rId3"/>
          <a:stretch>
            <a:fillRect/>
          </a:stretch>
        </p:blipFill>
        <p:spPr>
          <a:xfrm>
            <a:off x="365760" y="886968"/>
            <a:ext cx="5952744" cy="512064"/>
          </a:xfrm>
          <a:prstGeom prst="rect">
            <a:avLst/>
          </a:prstGeom>
        </p:spPr>
      </p:pic>
      <p:pic>
        <p:nvPicPr>
          <p:cNvPr id="16" name="Picture 15" descr="output.png"/>
          <p:cNvPicPr>
            <a:picLocks noChangeAspect="1"/>
          </p:cNvPicPr>
          <p:nvPr/>
        </p:nvPicPr>
        <p:blipFill>
          <a:blip r:embed="rId4"/>
          <a:stretch>
            <a:fillRect/>
          </a:stretch>
        </p:blipFill>
        <p:spPr>
          <a:xfrm>
            <a:off x="1371600" y="1463040"/>
            <a:ext cx="986968" cy="347472"/>
          </a:xfrm>
          <a:prstGeom prst="rect">
            <a:avLst/>
          </a:prstGeom>
        </p:spPr>
      </p:pic>
      <p:pic>
        <p:nvPicPr>
          <p:cNvPr id="17" name="Picture 16" descr="l1l1.png"/>
          <p:cNvPicPr>
            <a:picLocks noChangeAspect="1"/>
          </p:cNvPicPr>
          <p:nvPr/>
        </p:nvPicPr>
        <p:blipFill>
          <a:blip r:embed="rId5"/>
          <a:stretch>
            <a:fillRect/>
          </a:stretch>
        </p:blipFill>
        <p:spPr>
          <a:xfrm>
            <a:off x="384048" y="2788920"/>
            <a:ext cx="554464" cy="365760"/>
          </a:xfrm>
          <a:prstGeom prst="rect">
            <a:avLst/>
          </a:prstGeom>
        </p:spPr>
      </p:pic>
      <p:pic>
        <p:nvPicPr>
          <p:cNvPr id="18" name="Picture 17" descr="l1linf.png"/>
          <p:cNvPicPr>
            <a:picLocks noChangeAspect="1"/>
          </p:cNvPicPr>
          <p:nvPr/>
        </p:nvPicPr>
        <p:blipFill>
          <a:blip r:embed="rId6"/>
          <a:stretch>
            <a:fillRect/>
          </a:stretch>
        </p:blipFill>
        <p:spPr>
          <a:xfrm>
            <a:off x="4846320" y="2788920"/>
            <a:ext cx="680652" cy="365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76F51"/>
          </a:solidFill>
          <a:ln w="12700">
            <a:solidFill>
              <a:srgbClr val="E76F51"/>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Problem with Castro</a:t>
            </a:r>
            <a:endParaRPr lang="en-US" sz="2000" dirty="0"/>
          </a:p>
        </p:txBody>
      </p:sp>
      <p:sp>
        <p:nvSpPr>
          <p:cNvPr id="4" name="Shape 2"/>
          <p:cNvSpPr/>
          <p:nvPr/>
        </p:nvSpPr>
        <p:spPr>
          <a:xfrm>
            <a:off x="274320" y="868680"/>
            <a:ext cx="4160520" cy="1783080"/>
          </a:xfrm>
          <a:prstGeom prst="rect">
            <a:avLst/>
          </a:prstGeom>
          <a:solidFill>
            <a:srgbClr val="FFFFFF"/>
          </a:solidFill>
          <a:ln w="25400">
            <a:solidFill>
              <a:srgbClr val="E76F51"/>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868680"/>
            <a:ext cx="109728" cy="1783080"/>
          </a:xfrm>
          <a:prstGeom prst="rect">
            <a:avLst/>
          </a:prstGeom>
          <a:solidFill>
            <a:srgbClr val="E76F51"/>
          </a:solidFill>
          <a:ln w="12700">
            <a:solidFill>
              <a:srgbClr val="E76F51"/>
            </a:solidFill>
            <a:prstDash val="solid"/>
          </a:ln>
        </p:spPr>
        <p:txBody>
          <a:bodyPr/>
          <a:lstStyle/>
          <a:p>
            <a:endParaRPr lang="en-US"/>
          </a:p>
        </p:txBody>
      </p:sp>
      <p:sp>
        <p:nvSpPr>
          <p:cNvPr id="6" name="Text 4"/>
          <p:cNvSpPr/>
          <p:nvPr/>
        </p:nvSpPr>
        <p:spPr>
          <a:xfrm>
            <a:off x="457200" y="941832"/>
            <a:ext cx="3840480" cy="365760"/>
          </a:xfrm>
          <a:prstGeom prst="rect">
            <a:avLst/>
          </a:prstGeom>
          <a:noFill/>
          <a:ln/>
        </p:spPr>
        <p:txBody>
          <a:bodyPr wrap="square" rtlCol="0" anchor="ctr"/>
          <a:lstStyle/>
          <a:p>
            <a:pPr marL="0" indent="0">
              <a:buNone/>
            </a:pPr>
            <a:r>
              <a:rPr lang="en-US" sz="1200" b="1" dirty="0">
                <a:solidFill>
                  <a:srgbClr val="E76F51"/>
                </a:solidFill>
                <a:latin typeface="Calibri" pitchFamily="34" charset="0"/>
                <a:ea typeface="Calibri" pitchFamily="34" charset="-122"/>
                <a:cs typeface="Calibri" pitchFamily="34" charset="-120"/>
              </a:rPr>
              <a:t>1. Tasks are treated as equally similar</a:t>
            </a:r>
            <a:endParaRPr lang="en-US" sz="1200" dirty="0"/>
          </a:p>
        </p:txBody>
      </p:sp>
      <p:sp>
        <p:nvSpPr>
          <p:cNvPr id="7" name="Text 5"/>
          <p:cNvSpPr/>
          <p:nvPr/>
        </p:nvSpPr>
        <p:spPr>
          <a:xfrm>
            <a:off x="457200" y="1325880"/>
            <a:ext cx="3840480" cy="11887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ℓ₁/ℓ∞ pulls all tasks toward the same edge set with uniform weight.</a:t>
            </a:r>
            <a:endParaRPr lang="en-US" sz="1100" dirty="0"/>
          </a:p>
          <a:p>
            <a:pPr marL="0" indent="0">
              <a:buNone/>
            </a:pPr>
            <a:r>
              <a:rPr lang="en-US" sz="1100" dirty="0">
                <a:solidFill>
                  <a:srgbClr val="1A2B3C"/>
                </a:solidFill>
                <a:latin typeface="Calibri" pitchFamily="34" charset="0"/>
                <a:ea typeface="Calibri" pitchFamily="34" charset="-122"/>
                <a:cs typeface="Calibri" pitchFamily="34" charset="-120"/>
              </a:rPr>
              <a:t>Tfh and Treg cells are not equally related -</a:t>
            </a:r>
            <a:r>
              <a:rPr lang="en-US" sz="1100" dirty="0">
                <a:solidFill>
                  <a:srgbClr val="1A2B3C"/>
                </a:solidFill>
                <a:latin typeface="Calibri" pitchFamily="34" charset="0"/>
                <a:ea typeface="Calibri" pitchFamily="34" charset="-122"/>
                <a:cs typeface="Calibri" pitchFamily="34" charset="-120"/>
                <a:sym typeface="Wingdings" pitchFamily="2" charset="2"/>
              </a:rPr>
              <a:t>-&gt;</a:t>
            </a:r>
            <a:r>
              <a:rPr lang="en-US" sz="1100" dirty="0">
                <a:solidFill>
                  <a:srgbClr val="1A2B3C"/>
                </a:solidFill>
                <a:latin typeface="Calibri" pitchFamily="34" charset="0"/>
                <a:ea typeface="Calibri" pitchFamily="34" charset="-122"/>
                <a:cs typeface="Calibri" pitchFamily="34" charset="-120"/>
              </a:rPr>
              <a:t> ignoring this structure wastes information.</a:t>
            </a:r>
            <a:endParaRPr lang="en-US" sz="1100" dirty="0"/>
          </a:p>
        </p:txBody>
      </p:sp>
      <p:sp>
        <p:nvSpPr>
          <p:cNvPr id="8" name="Shape 6"/>
          <p:cNvSpPr/>
          <p:nvPr/>
        </p:nvSpPr>
        <p:spPr>
          <a:xfrm>
            <a:off x="4709160" y="868680"/>
            <a:ext cx="4160520" cy="1783080"/>
          </a:xfrm>
          <a:prstGeom prst="rect">
            <a:avLst/>
          </a:prstGeom>
          <a:solidFill>
            <a:srgbClr val="FFFFFF"/>
          </a:solidFill>
          <a:ln w="2540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868680"/>
            <a:ext cx="109728" cy="1783080"/>
          </a:xfrm>
          <a:prstGeom prst="rect">
            <a:avLst/>
          </a:prstGeom>
          <a:solidFill>
            <a:srgbClr val="F4A261"/>
          </a:solidFill>
          <a:ln w="12700">
            <a:solidFill>
              <a:srgbClr val="F4A261"/>
            </a:solidFill>
            <a:prstDash val="solid"/>
          </a:ln>
        </p:spPr>
        <p:txBody>
          <a:bodyPr/>
          <a:lstStyle/>
          <a:p>
            <a:endParaRPr lang="en-US"/>
          </a:p>
        </p:txBody>
      </p:sp>
      <p:sp>
        <p:nvSpPr>
          <p:cNvPr id="10" name="Text 8"/>
          <p:cNvSpPr/>
          <p:nvPr/>
        </p:nvSpPr>
        <p:spPr>
          <a:xfrm>
            <a:off x="4892040" y="941832"/>
            <a:ext cx="3840480" cy="365760"/>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2. Rigid B + S decomposition</a:t>
            </a:r>
            <a:endParaRPr lang="en-US" sz="1200" dirty="0"/>
          </a:p>
        </p:txBody>
      </p:sp>
      <p:sp>
        <p:nvSpPr>
          <p:cNvPr id="11" name="Text 9"/>
          <p:cNvSpPr/>
          <p:nvPr/>
        </p:nvSpPr>
        <p:spPr>
          <a:xfrm>
            <a:off x="4892040" y="1325880"/>
            <a:ext cx="3840480" cy="11887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The shared baseline B is fixed additively. There is no mechanism to</a:t>
            </a:r>
            <a:endParaRPr lang="en-US" sz="1100" dirty="0"/>
          </a:p>
          <a:p>
            <a:pPr marL="0" indent="0">
              <a:buNone/>
            </a:pPr>
            <a:r>
              <a:rPr lang="en-US" sz="1100" dirty="0">
                <a:solidFill>
                  <a:srgbClr val="1A2B3C"/>
                </a:solidFill>
                <a:latin typeface="Calibri" pitchFamily="34" charset="0"/>
                <a:ea typeface="Calibri" pitchFamily="34" charset="-122"/>
                <a:cs typeface="Calibri" pitchFamily="34" charset="-120"/>
              </a:rPr>
              <a:t>learn how much structure is shared vs. condition-specific from the data.</a:t>
            </a:r>
            <a:endParaRPr lang="en-US" sz="1100" dirty="0"/>
          </a:p>
        </p:txBody>
      </p:sp>
      <p:sp>
        <p:nvSpPr>
          <p:cNvPr id="12" name="Shape 10"/>
          <p:cNvSpPr/>
          <p:nvPr/>
        </p:nvSpPr>
        <p:spPr>
          <a:xfrm>
            <a:off x="274320" y="2834640"/>
            <a:ext cx="4160520" cy="1783080"/>
          </a:xfrm>
          <a:prstGeom prst="rect">
            <a:avLst/>
          </a:prstGeom>
          <a:solidFill>
            <a:srgbClr val="FFFFFF"/>
          </a:solidFill>
          <a:ln w="25400">
            <a:solidFill>
              <a:srgbClr val="00A896"/>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834640"/>
            <a:ext cx="109728" cy="178308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457200" y="2907792"/>
            <a:ext cx="3840480" cy="365760"/>
          </a:xfrm>
          <a:prstGeom prst="rect">
            <a:avLst/>
          </a:prstGeom>
          <a:noFill/>
          <a:ln/>
        </p:spPr>
        <p:txBody>
          <a:bodyPr wrap="square"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3. Prior Φ is applied only to S, not B</a:t>
            </a:r>
            <a:endParaRPr lang="en-US" sz="1200" dirty="0"/>
          </a:p>
        </p:txBody>
      </p:sp>
      <p:sp>
        <p:nvSpPr>
          <p:cNvPr id="15" name="Text 13"/>
          <p:cNvSpPr/>
          <p:nvPr/>
        </p:nvSpPr>
        <p:spPr>
          <a:xfrm>
            <a:off x="457200" y="3291840"/>
            <a:ext cx="3840480" cy="11887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The prior penalty modulates only the sparse perturbation term.</a:t>
            </a:r>
            <a:endParaRPr lang="en-US" sz="1100" dirty="0"/>
          </a:p>
          <a:p>
            <a:pPr marL="0" indent="0">
              <a:buNone/>
            </a:pPr>
            <a:r>
              <a:rPr lang="en-US" sz="1100" dirty="0">
                <a:solidFill>
                  <a:srgbClr val="1A2B3C"/>
                </a:solidFill>
                <a:latin typeface="Calibri" pitchFamily="34" charset="0"/>
                <a:ea typeface="Calibri" pitchFamily="34" charset="-122"/>
                <a:cs typeface="Calibri" pitchFamily="34" charset="-120"/>
              </a:rPr>
              <a:t>The shared baseline B is unguided, potentially absorbing spurious signal.</a:t>
            </a:r>
            <a:endParaRPr lang="en-US" sz="1100" dirty="0"/>
          </a:p>
        </p:txBody>
      </p:sp>
      <p:sp>
        <p:nvSpPr>
          <p:cNvPr id="16" name="Shape 14"/>
          <p:cNvSpPr/>
          <p:nvPr/>
        </p:nvSpPr>
        <p:spPr>
          <a:xfrm>
            <a:off x="4709160" y="2834640"/>
            <a:ext cx="4160520" cy="1783080"/>
          </a:xfrm>
          <a:prstGeom prst="rect">
            <a:avLst/>
          </a:prstGeom>
          <a:solidFill>
            <a:srgbClr val="FFFFFF"/>
          </a:solidFill>
          <a:ln w="25400">
            <a:solidFill>
              <a:srgbClr val="8899AA"/>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834640"/>
            <a:ext cx="109728" cy="1783080"/>
          </a:xfrm>
          <a:prstGeom prst="rect">
            <a:avLst/>
          </a:prstGeom>
          <a:solidFill>
            <a:srgbClr val="8899AA"/>
          </a:solidFill>
          <a:ln w="12700">
            <a:solidFill>
              <a:srgbClr val="8899AA"/>
            </a:solidFill>
            <a:prstDash val="solid"/>
          </a:ln>
        </p:spPr>
        <p:txBody>
          <a:bodyPr/>
          <a:lstStyle/>
          <a:p>
            <a:endParaRPr lang="en-US"/>
          </a:p>
        </p:txBody>
      </p:sp>
      <p:sp>
        <p:nvSpPr>
          <p:cNvPr id="18" name="Text 16"/>
          <p:cNvSpPr/>
          <p:nvPr/>
        </p:nvSpPr>
        <p:spPr>
          <a:xfrm>
            <a:off x="4892040" y="2907792"/>
            <a:ext cx="3840480" cy="365760"/>
          </a:xfrm>
          <a:prstGeom prst="rect">
            <a:avLst/>
          </a:prstGeom>
          <a:noFill/>
          <a:ln/>
        </p:spPr>
        <p:txBody>
          <a:bodyPr wrap="square" rtlCol="0" anchor="ctr"/>
          <a:lstStyle/>
          <a:p>
            <a:pPr marL="0" indent="0">
              <a:buNone/>
            </a:pPr>
            <a:r>
              <a:rPr lang="en-US" sz="1200" b="1" dirty="0">
                <a:solidFill>
                  <a:srgbClr val="8899AA"/>
                </a:solidFill>
                <a:latin typeface="Calibri" pitchFamily="34" charset="0"/>
                <a:ea typeface="Calibri" pitchFamily="34" charset="-122"/>
                <a:cs typeface="Calibri" pitchFamily="34" charset="-120"/>
              </a:rPr>
              <a:t>4. Single dataset assumption</a:t>
            </a:r>
            <a:endParaRPr lang="en-US" sz="1200" dirty="0"/>
          </a:p>
        </p:txBody>
      </p:sp>
      <p:sp>
        <p:nvSpPr>
          <p:cNvPr id="19" name="Text 17"/>
          <p:cNvSpPr/>
          <p:nvPr/>
        </p:nvSpPr>
        <p:spPr>
          <a:xfrm>
            <a:off x="4892040" y="3291840"/>
            <a:ext cx="3840480" cy="11887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Castro defines 'tasks' as separate studies (different expression matrices).</a:t>
            </a:r>
            <a:endParaRPr lang="en-US" sz="1100" dirty="0"/>
          </a:p>
          <a:p>
            <a:pPr marL="0" indent="0">
              <a:buNone/>
            </a:pPr>
            <a:r>
              <a:rPr lang="en-US" sz="1100" dirty="0">
                <a:solidFill>
                  <a:srgbClr val="1A2B3C"/>
                </a:solidFill>
                <a:latin typeface="Calibri" pitchFamily="34" charset="0"/>
                <a:ea typeface="Calibri" pitchFamily="34" charset="-122"/>
                <a:cs typeface="Calibri" pitchFamily="34" charset="-120"/>
              </a:rPr>
              <a:t>For pseudobulk data — one matrix, multiple cell types — this is not directly applicable.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A896"/>
          </a:solidFill>
          <a:ln w="12700">
            <a:solidFill>
              <a:srgbClr val="00A896"/>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New Objective — Graph-Fused Multitask LASSO</a:t>
            </a:r>
            <a:endParaRPr lang="en-US" sz="2000" dirty="0"/>
          </a:p>
        </p:txBody>
      </p:sp>
      <p:sp>
        <p:nvSpPr>
          <p:cNvPr id="4" name="Shape 2"/>
          <p:cNvSpPr/>
          <p:nvPr/>
        </p:nvSpPr>
        <p:spPr>
          <a:xfrm>
            <a:off x="274320" y="822960"/>
            <a:ext cx="8595360" cy="1463040"/>
          </a:xfrm>
          <a:prstGeom prst="rect">
            <a:avLst/>
          </a:prstGeom>
          <a:solidFill>
            <a:srgbClr val="0D1B2A">
              <a:alpha val="6000"/>
            </a:srgbClr>
          </a:solidFill>
          <a:ln w="25400">
            <a:solidFill>
              <a:srgbClr val="00A896"/>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2423160"/>
            <a:ext cx="2743200" cy="2514600"/>
          </a:xfrm>
          <a:prstGeom prst="rect">
            <a:avLst/>
          </a:prstGeom>
          <a:solidFill>
            <a:srgbClr val="FFFFFF"/>
          </a:solidFill>
          <a:ln w="25400">
            <a:solidFill>
              <a:srgbClr val="8899AA"/>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65760" y="2487168"/>
            <a:ext cx="2560320" cy="347472"/>
          </a:xfrm>
          <a:prstGeom prst="rect">
            <a:avLst/>
          </a:prstGeom>
          <a:noFill/>
          <a:ln/>
        </p:spPr>
        <p:txBody>
          <a:bodyPr wrap="square" rtlCol="0" anchor="ctr"/>
          <a:lstStyle/>
          <a:p>
            <a:pPr marL="0" indent="0">
              <a:buNone/>
            </a:pPr>
            <a:r>
              <a:rPr lang="en-US" sz="1200" b="1" dirty="0">
                <a:solidFill>
                  <a:srgbClr val="8899AA"/>
                </a:solidFill>
                <a:latin typeface="Calibri" pitchFamily="34" charset="0"/>
                <a:ea typeface="Calibri" pitchFamily="34" charset="-122"/>
                <a:cs typeface="Calibri" pitchFamily="34" charset="-120"/>
              </a:rPr>
              <a:t>Data Fit</a:t>
            </a:r>
            <a:endParaRPr lang="en-US" sz="1200" dirty="0"/>
          </a:p>
        </p:txBody>
      </p:sp>
      <p:sp>
        <p:nvSpPr>
          <p:cNvPr id="9" name="Shape 7"/>
          <p:cNvSpPr/>
          <p:nvPr/>
        </p:nvSpPr>
        <p:spPr>
          <a:xfrm>
            <a:off x="365760" y="2852928"/>
            <a:ext cx="2560320" cy="0"/>
          </a:xfrm>
          <a:prstGeom prst="line">
            <a:avLst/>
          </a:prstGeom>
          <a:noFill/>
          <a:ln w="12700">
            <a:solidFill>
              <a:srgbClr val="8899AA"/>
            </a:solidFill>
            <a:prstDash val="solid"/>
          </a:ln>
        </p:spPr>
        <p:txBody>
          <a:bodyPr/>
          <a:lstStyle/>
          <a:p>
            <a:endParaRPr lang="en-US"/>
          </a:p>
        </p:txBody>
      </p:sp>
      <p:sp>
        <p:nvSpPr>
          <p:cNvPr id="11" name="Text 9"/>
          <p:cNvSpPr/>
          <p:nvPr/>
        </p:nvSpPr>
        <p:spPr>
          <a:xfrm>
            <a:off x="365760" y="3474720"/>
            <a:ext cx="2560320" cy="1325880"/>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Standard least-squares per task.</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Identical to original Inferelator.</a:t>
            </a:r>
            <a:endParaRPr lang="en-US" sz="1050" dirty="0"/>
          </a:p>
        </p:txBody>
      </p:sp>
      <p:sp>
        <p:nvSpPr>
          <p:cNvPr id="12" name="Shape 10"/>
          <p:cNvSpPr/>
          <p:nvPr/>
        </p:nvSpPr>
        <p:spPr>
          <a:xfrm>
            <a:off x="3154680" y="2423160"/>
            <a:ext cx="2743200" cy="2514600"/>
          </a:xfrm>
          <a:prstGeom prst="rect">
            <a:avLst/>
          </a:prstGeom>
          <a:solidFill>
            <a:srgbClr val="FFFFFF"/>
          </a:solidFill>
          <a:ln w="2540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3246120" y="2487168"/>
            <a:ext cx="2560320" cy="347472"/>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Prior-Weighted LASSO  λ_s</a:t>
            </a:r>
            <a:endParaRPr lang="en-US" sz="1200" dirty="0"/>
          </a:p>
        </p:txBody>
      </p:sp>
      <p:sp>
        <p:nvSpPr>
          <p:cNvPr id="14" name="Shape 12"/>
          <p:cNvSpPr/>
          <p:nvPr/>
        </p:nvSpPr>
        <p:spPr>
          <a:xfrm>
            <a:off x="3246120" y="2852928"/>
            <a:ext cx="2560320" cy="0"/>
          </a:xfrm>
          <a:prstGeom prst="line">
            <a:avLst/>
          </a:prstGeom>
          <a:noFill/>
          <a:ln w="12700">
            <a:solidFill>
              <a:srgbClr val="F4A261"/>
            </a:solidFill>
            <a:prstDash val="solid"/>
          </a:ln>
        </p:spPr>
        <p:txBody>
          <a:bodyPr/>
          <a:lstStyle/>
          <a:p>
            <a:endParaRPr lang="en-US"/>
          </a:p>
        </p:txBody>
      </p:sp>
      <p:sp>
        <p:nvSpPr>
          <p:cNvPr id="16" name="Text 14"/>
          <p:cNvSpPr/>
          <p:nvPr/>
        </p:nvSpPr>
        <p:spPr>
          <a:xfrm>
            <a:off x="3246120" y="3474720"/>
            <a:ext cx="2560320" cy="1325880"/>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Prior Φ lowers penalty for known edges.</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Unchanged from original codebase.</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Applied per task.</a:t>
            </a:r>
            <a:endParaRPr lang="en-US" sz="1050" dirty="0"/>
          </a:p>
        </p:txBody>
      </p:sp>
      <p:sp>
        <p:nvSpPr>
          <p:cNvPr id="17" name="Shape 15"/>
          <p:cNvSpPr/>
          <p:nvPr/>
        </p:nvSpPr>
        <p:spPr>
          <a:xfrm>
            <a:off x="6035040" y="2423160"/>
            <a:ext cx="2743200" cy="2514600"/>
          </a:xfrm>
          <a:prstGeom prst="rect">
            <a:avLst/>
          </a:prstGeom>
          <a:solidFill>
            <a:srgbClr val="FFFFFF"/>
          </a:solidFill>
          <a:ln w="25400">
            <a:solidFill>
              <a:srgbClr val="E76F51"/>
            </a:solidFill>
            <a:prstDash val="solid"/>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6126480" y="2487168"/>
            <a:ext cx="2560320" cy="347472"/>
          </a:xfrm>
          <a:prstGeom prst="rect">
            <a:avLst/>
          </a:prstGeom>
          <a:noFill/>
          <a:ln/>
        </p:spPr>
        <p:txBody>
          <a:bodyPr wrap="square" rtlCol="0" anchor="ctr"/>
          <a:lstStyle/>
          <a:p>
            <a:pPr marL="0" indent="0">
              <a:buNone/>
            </a:pPr>
            <a:r>
              <a:rPr lang="en-US" sz="1200" b="1" dirty="0">
                <a:solidFill>
                  <a:srgbClr val="E76F51"/>
                </a:solidFill>
                <a:latin typeface="Calibri" pitchFamily="34" charset="0"/>
                <a:ea typeface="Calibri" pitchFamily="34" charset="-122"/>
                <a:cs typeface="Calibri" pitchFamily="34" charset="-120"/>
              </a:rPr>
              <a:t>Graph Fusion  λ_f  [NEW]</a:t>
            </a:r>
            <a:endParaRPr lang="en-US" sz="1200" dirty="0"/>
          </a:p>
        </p:txBody>
      </p:sp>
      <p:sp>
        <p:nvSpPr>
          <p:cNvPr id="19" name="Shape 17"/>
          <p:cNvSpPr/>
          <p:nvPr/>
        </p:nvSpPr>
        <p:spPr>
          <a:xfrm>
            <a:off x="6126480" y="2852928"/>
            <a:ext cx="2560320" cy="0"/>
          </a:xfrm>
          <a:prstGeom prst="line">
            <a:avLst/>
          </a:prstGeom>
          <a:noFill/>
          <a:ln w="12700">
            <a:solidFill>
              <a:srgbClr val="E76F51"/>
            </a:solidFill>
            <a:prstDash val="solid"/>
          </a:ln>
        </p:spPr>
        <p:txBody>
          <a:bodyPr/>
          <a:lstStyle/>
          <a:p>
            <a:endParaRPr lang="en-US"/>
          </a:p>
        </p:txBody>
      </p:sp>
      <p:sp>
        <p:nvSpPr>
          <p:cNvPr id="21" name="Text 19"/>
          <p:cNvSpPr/>
          <p:nvPr/>
        </p:nvSpPr>
        <p:spPr>
          <a:xfrm>
            <a:off x="6126480" y="3474720"/>
            <a:ext cx="2560320" cy="1325880"/>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Pulls related tasks toward shared edges.</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Similarity sim(d,d') encodes cell type proximity.</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Related tasks share more; distant tasks less.</a:t>
            </a:r>
            <a:endParaRPr lang="en-US" sz="1050" dirty="0"/>
          </a:p>
        </p:txBody>
      </p:sp>
      <p:pic>
        <p:nvPicPr>
          <p:cNvPr id="22" name="Picture 21" descr="new_obj.png"/>
          <p:cNvPicPr>
            <a:picLocks noChangeAspect="1"/>
          </p:cNvPicPr>
          <p:nvPr/>
        </p:nvPicPr>
        <p:blipFill>
          <a:blip r:embed="rId3"/>
          <a:stretch>
            <a:fillRect/>
          </a:stretch>
        </p:blipFill>
        <p:spPr>
          <a:xfrm>
            <a:off x="365760" y="886968"/>
            <a:ext cx="8412480" cy="621525"/>
          </a:xfrm>
          <a:prstGeom prst="rect">
            <a:avLst/>
          </a:prstGeom>
        </p:spPr>
      </p:pic>
      <p:pic>
        <p:nvPicPr>
          <p:cNvPr id="23" name="Picture 22" descr="datafit.png"/>
          <p:cNvPicPr>
            <a:picLocks noChangeAspect="1"/>
          </p:cNvPicPr>
          <p:nvPr/>
        </p:nvPicPr>
        <p:blipFill>
          <a:blip r:embed="rId4"/>
          <a:stretch>
            <a:fillRect/>
          </a:stretch>
        </p:blipFill>
        <p:spPr>
          <a:xfrm>
            <a:off x="365760" y="2852928"/>
            <a:ext cx="1875948" cy="475488"/>
          </a:xfrm>
          <a:prstGeom prst="rect">
            <a:avLst/>
          </a:prstGeom>
        </p:spPr>
      </p:pic>
      <p:pic>
        <p:nvPicPr>
          <p:cNvPr id="24" name="Picture 23" descr="lasso_card.png"/>
          <p:cNvPicPr>
            <a:picLocks noChangeAspect="1"/>
          </p:cNvPicPr>
          <p:nvPr/>
        </p:nvPicPr>
        <p:blipFill>
          <a:blip r:embed="rId5"/>
          <a:stretch>
            <a:fillRect/>
          </a:stretch>
        </p:blipFill>
        <p:spPr>
          <a:xfrm>
            <a:off x="3246120" y="2852928"/>
            <a:ext cx="1265584" cy="475488"/>
          </a:xfrm>
          <a:prstGeom prst="rect">
            <a:avLst/>
          </a:prstGeom>
        </p:spPr>
      </p:pic>
      <p:pic>
        <p:nvPicPr>
          <p:cNvPr id="25" name="Picture 24" descr="fusion_card.png"/>
          <p:cNvPicPr>
            <a:picLocks noChangeAspect="1"/>
          </p:cNvPicPr>
          <p:nvPr/>
        </p:nvPicPr>
        <p:blipFill>
          <a:blip r:embed="rId6"/>
          <a:stretch>
            <a:fillRect/>
          </a:stretch>
        </p:blipFill>
        <p:spPr>
          <a:xfrm>
            <a:off x="6126480" y="2852928"/>
            <a:ext cx="2466594" cy="4754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How This Differs from Castro</a:t>
            </a:r>
            <a:endParaRPr lang="en-US" sz="2000" dirty="0"/>
          </a:p>
        </p:txBody>
      </p:sp>
      <p:sp>
        <p:nvSpPr>
          <p:cNvPr id="4" name="Shape 2"/>
          <p:cNvSpPr/>
          <p:nvPr/>
        </p:nvSpPr>
        <p:spPr>
          <a:xfrm>
            <a:off x="274320" y="777240"/>
            <a:ext cx="2011680" cy="576072"/>
          </a:xfrm>
          <a:prstGeom prst="rect">
            <a:avLst/>
          </a:prstGeom>
          <a:solidFill>
            <a:srgbClr val="0D1B2A"/>
          </a:solidFill>
          <a:ln w="6350">
            <a:solidFill>
              <a:srgbClr val="D0DDE8"/>
            </a:solidFill>
            <a:prstDash val="solid"/>
          </a:ln>
        </p:spPr>
        <p:txBody>
          <a:bodyPr/>
          <a:lstStyle/>
          <a:p>
            <a:endParaRPr lang="en-US"/>
          </a:p>
        </p:txBody>
      </p:sp>
      <p:sp>
        <p:nvSpPr>
          <p:cNvPr id="5" name="Text 3"/>
          <p:cNvSpPr/>
          <p:nvPr/>
        </p:nvSpPr>
        <p:spPr>
          <a:xfrm>
            <a:off x="347472" y="813816"/>
            <a:ext cx="1865376" cy="502920"/>
          </a:xfrm>
          <a:prstGeom prst="rect">
            <a:avLst/>
          </a:prstGeom>
          <a:noFill/>
          <a:ln/>
        </p:spPr>
        <p:txBody>
          <a:bodyPr wrap="square" rtlCol="0" anchor="ctr"/>
          <a:lstStyle/>
          <a:p>
            <a:pPr marL="0" indent="0">
              <a:buNone/>
            </a:pPr>
            <a:endParaRPr lang="en-US" sz="1100" dirty="0"/>
          </a:p>
        </p:txBody>
      </p:sp>
      <p:sp>
        <p:nvSpPr>
          <p:cNvPr id="6" name="Shape 4"/>
          <p:cNvSpPr/>
          <p:nvPr/>
        </p:nvSpPr>
        <p:spPr>
          <a:xfrm>
            <a:off x="2286000" y="777240"/>
            <a:ext cx="3108960" cy="576072"/>
          </a:xfrm>
          <a:prstGeom prst="rect">
            <a:avLst/>
          </a:prstGeom>
          <a:solidFill>
            <a:srgbClr val="0D1B2A"/>
          </a:solidFill>
          <a:ln w="6350">
            <a:solidFill>
              <a:srgbClr val="D0DDE8"/>
            </a:solidFill>
            <a:prstDash val="solid"/>
          </a:ln>
        </p:spPr>
        <p:txBody>
          <a:bodyPr/>
          <a:lstStyle/>
          <a:p>
            <a:endParaRPr lang="en-US"/>
          </a:p>
        </p:txBody>
      </p:sp>
      <p:sp>
        <p:nvSpPr>
          <p:cNvPr id="7" name="Text 5"/>
          <p:cNvSpPr/>
          <p:nvPr/>
        </p:nvSpPr>
        <p:spPr>
          <a:xfrm>
            <a:off x="2359152" y="813816"/>
            <a:ext cx="2962656"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Castro et al.</a:t>
            </a:r>
            <a:endParaRPr lang="en-US" sz="1100" dirty="0"/>
          </a:p>
        </p:txBody>
      </p:sp>
      <p:sp>
        <p:nvSpPr>
          <p:cNvPr id="8" name="Shape 6"/>
          <p:cNvSpPr/>
          <p:nvPr/>
        </p:nvSpPr>
        <p:spPr>
          <a:xfrm>
            <a:off x="5394960" y="777240"/>
            <a:ext cx="3108960" cy="576072"/>
          </a:xfrm>
          <a:prstGeom prst="rect">
            <a:avLst/>
          </a:prstGeom>
          <a:solidFill>
            <a:srgbClr val="0D1B2A"/>
          </a:solidFill>
          <a:ln w="6350">
            <a:solidFill>
              <a:srgbClr val="D0DDE8"/>
            </a:solidFill>
            <a:prstDash val="solid"/>
          </a:ln>
        </p:spPr>
        <p:txBody>
          <a:bodyPr/>
          <a:lstStyle/>
          <a:p>
            <a:endParaRPr lang="en-US"/>
          </a:p>
        </p:txBody>
      </p:sp>
      <p:sp>
        <p:nvSpPr>
          <p:cNvPr id="9" name="Text 7"/>
          <p:cNvSpPr/>
          <p:nvPr/>
        </p:nvSpPr>
        <p:spPr>
          <a:xfrm>
            <a:off x="5468112" y="813816"/>
            <a:ext cx="2962656"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Graph-Fused MT (This Work)</a:t>
            </a:r>
            <a:endParaRPr lang="en-US" sz="1100" dirty="0"/>
          </a:p>
        </p:txBody>
      </p:sp>
      <p:sp>
        <p:nvSpPr>
          <p:cNvPr id="10" name="Shape 8"/>
          <p:cNvSpPr/>
          <p:nvPr/>
        </p:nvSpPr>
        <p:spPr>
          <a:xfrm>
            <a:off x="274320" y="1353312"/>
            <a:ext cx="2011680" cy="576072"/>
          </a:xfrm>
          <a:prstGeom prst="rect">
            <a:avLst/>
          </a:prstGeom>
          <a:solidFill>
            <a:srgbClr val="EEF4F8"/>
          </a:solidFill>
          <a:ln w="6350">
            <a:solidFill>
              <a:srgbClr val="D0DDE8"/>
            </a:solidFill>
            <a:prstDash val="solid"/>
          </a:ln>
        </p:spPr>
        <p:txBody>
          <a:bodyPr/>
          <a:lstStyle/>
          <a:p>
            <a:endParaRPr lang="en-US"/>
          </a:p>
        </p:txBody>
      </p:sp>
      <p:sp>
        <p:nvSpPr>
          <p:cNvPr id="11" name="Text 9"/>
          <p:cNvSpPr/>
          <p:nvPr/>
        </p:nvSpPr>
        <p:spPr>
          <a:xfrm>
            <a:off x="347472" y="1389888"/>
            <a:ext cx="1865376" cy="50292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Task definition</a:t>
            </a:r>
            <a:endParaRPr lang="en-US" sz="1000" dirty="0"/>
          </a:p>
        </p:txBody>
      </p:sp>
      <p:sp>
        <p:nvSpPr>
          <p:cNvPr id="12" name="Shape 10"/>
          <p:cNvSpPr/>
          <p:nvPr/>
        </p:nvSpPr>
        <p:spPr>
          <a:xfrm>
            <a:off x="2286000" y="1353312"/>
            <a:ext cx="3108960" cy="576072"/>
          </a:xfrm>
          <a:prstGeom prst="rect">
            <a:avLst/>
          </a:prstGeom>
          <a:solidFill>
            <a:srgbClr val="EEF4F8"/>
          </a:solidFill>
          <a:ln w="6350">
            <a:solidFill>
              <a:srgbClr val="D0DDE8"/>
            </a:solidFill>
            <a:prstDash val="solid"/>
          </a:ln>
        </p:spPr>
        <p:txBody>
          <a:bodyPr/>
          <a:lstStyle/>
          <a:p>
            <a:endParaRPr lang="en-US"/>
          </a:p>
        </p:txBody>
      </p:sp>
      <p:sp>
        <p:nvSpPr>
          <p:cNvPr id="13" name="Text 11"/>
          <p:cNvSpPr/>
          <p:nvPr/>
        </p:nvSpPr>
        <p:spPr>
          <a:xfrm>
            <a:off x="2359152" y="1389888"/>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Separate expression matrices</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(separate studies)</a:t>
            </a:r>
            <a:endParaRPr lang="en-US" sz="1000" dirty="0"/>
          </a:p>
        </p:txBody>
      </p:sp>
      <p:sp>
        <p:nvSpPr>
          <p:cNvPr id="14" name="Shape 12"/>
          <p:cNvSpPr/>
          <p:nvPr/>
        </p:nvSpPr>
        <p:spPr>
          <a:xfrm>
            <a:off x="5394960" y="1353312"/>
            <a:ext cx="3108960" cy="576072"/>
          </a:xfrm>
          <a:prstGeom prst="rect">
            <a:avLst/>
          </a:prstGeom>
          <a:solidFill>
            <a:srgbClr val="EEF4F8"/>
          </a:solidFill>
          <a:ln w="6350">
            <a:solidFill>
              <a:srgbClr val="D0DDE8"/>
            </a:solidFill>
            <a:prstDash val="solid"/>
          </a:ln>
        </p:spPr>
        <p:txBody>
          <a:bodyPr/>
          <a:lstStyle/>
          <a:p>
            <a:endParaRPr lang="en-US"/>
          </a:p>
        </p:txBody>
      </p:sp>
      <p:sp>
        <p:nvSpPr>
          <p:cNvPr id="15" name="Text 13"/>
          <p:cNvSpPr/>
          <p:nvPr/>
        </p:nvSpPr>
        <p:spPr>
          <a:xfrm>
            <a:off x="5468112" y="1389888"/>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Cell types within one matrix</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(pseudobulk columns)</a:t>
            </a:r>
            <a:endParaRPr lang="en-US" sz="1000" dirty="0"/>
          </a:p>
        </p:txBody>
      </p:sp>
      <p:sp>
        <p:nvSpPr>
          <p:cNvPr id="16" name="Shape 14"/>
          <p:cNvSpPr/>
          <p:nvPr/>
        </p:nvSpPr>
        <p:spPr>
          <a:xfrm>
            <a:off x="274320" y="1929384"/>
            <a:ext cx="2011680" cy="576072"/>
          </a:xfrm>
          <a:prstGeom prst="rect">
            <a:avLst/>
          </a:prstGeom>
          <a:solidFill>
            <a:srgbClr val="FFFFFF"/>
          </a:solidFill>
          <a:ln w="6350">
            <a:solidFill>
              <a:srgbClr val="D0DDE8"/>
            </a:solidFill>
            <a:prstDash val="solid"/>
          </a:ln>
        </p:spPr>
        <p:txBody>
          <a:bodyPr/>
          <a:lstStyle/>
          <a:p>
            <a:endParaRPr lang="en-US"/>
          </a:p>
        </p:txBody>
      </p:sp>
      <p:sp>
        <p:nvSpPr>
          <p:cNvPr id="17" name="Text 15"/>
          <p:cNvSpPr/>
          <p:nvPr/>
        </p:nvSpPr>
        <p:spPr>
          <a:xfrm>
            <a:off x="347472" y="1965960"/>
            <a:ext cx="1865376" cy="50292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Task coupling</a:t>
            </a:r>
            <a:endParaRPr lang="en-US" sz="1000" dirty="0"/>
          </a:p>
        </p:txBody>
      </p:sp>
      <p:sp>
        <p:nvSpPr>
          <p:cNvPr id="18" name="Shape 16"/>
          <p:cNvSpPr/>
          <p:nvPr/>
        </p:nvSpPr>
        <p:spPr>
          <a:xfrm>
            <a:off x="2286000" y="1929384"/>
            <a:ext cx="3108960" cy="576072"/>
          </a:xfrm>
          <a:prstGeom prst="rect">
            <a:avLst/>
          </a:prstGeom>
          <a:solidFill>
            <a:srgbClr val="FFFFFF"/>
          </a:solidFill>
          <a:ln w="6350">
            <a:solidFill>
              <a:srgbClr val="D0DDE8"/>
            </a:solidFill>
            <a:prstDash val="solid"/>
          </a:ln>
        </p:spPr>
        <p:txBody>
          <a:bodyPr/>
          <a:lstStyle/>
          <a:p>
            <a:endParaRPr lang="en-US"/>
          </a:p>
        </p:txBody>
      </p:sp>
      <p:sp>
        <p:nvSpPr>
          <p:cNvPr id="19" name="Text 17"/>
          <p:cNvSpPr/>
          <p:nvPr/>
        </p:nvSpPr>
        <p:spPr>
          <a:xfrm>
            <a:off x="2359152" y="1965960"/>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ℓ₁/ℓ∞ on B couples tasks uniformly —</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if a TF is selected in any dataset,</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it tends to be retained in all.</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No weighting by task similarity.</a:t>
            </a:r>
            <a:endParaRPr lang="en-US" sz="1000" dirty="0"/>
          </a:p>
        </p:txBody>
      </p:sp>
      <p:sp>
        <p:nvSpPr>
          <p:cNvPr id="20" name="Shape 18"/>
          <p:cNvSpPr/>
          <p:nvPr/>
        </p:nvSpPr>
        <p:spPr>
          <a:xfrm>
            <a:off x="5394960" y="1929384"/>
            <a:ext cx="3108960" cy="576072"/>
          </a:xfrm>
          <a:prstGeom prst="rect">
            <a:avLst/>
          </a:prstGeom>
          <a:solidFill>
            <a:srgbClr val="FFFFFF"/>
          </a:solidFill>
          <a:ln w="6350">
            <a:solidFill>
              <a:srgbClr val="D0DDE8"/>
            </a:solidFill>
            <a:prstDash val="solid"/>
          </a:ln>
        </p:spPr>
        <p:txBody>
          <a:bodyPr/>
          <a:lstStyle/>
          <a:p>
            <a:endParaRPr lang="en-US"/>
          </a:p>
        </p:txBody>
      </p:sp>
      <p:sp>
        <p:nvSpPr>
          <p:cNvPr id="21" name="Text 19"/>
          <p:cNvSpPr/>
          <p:nvPr/>
        </p:nvSpPr>
        <p:spPr>
          <a:xfrm>
            <a:off x="5468112" y="1965960"/>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λ_f × sim(d,d') — weighted by</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cell type proximity. Related tasks</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share more; distant tasks share less.</a:t>
            </a:r>
            <a:endParaRPr lang="en-US" sz="1000" dirty="0"/>
          </a:p>
        </p:txBody>
      </p:sp>
      <p:sp>
        <p:nvSpPr>
          <p:cNvPr id="22" name="Shape 20"/>
          <p:cNvSpPr/>
          <p:nvPr/>
        </p:nvSpPr>
        <p:spPr>
          <a:xfrm>
            <a:off x="274320" y="2505456"/>
            <a:ext cx="2011680" cy="576072"/>
          </a:xfrm>
          <a:prstGeom prst="rect">
            <a:avLst/>
          </a:prstGeom>
          <a:solidFill>
            <a:srgbClr val="EEF4F8"/>
          </a:solidFill>
          <a:ln w="6350">
            <a:solidFill>
              <a:srgbClr val="D0DDE8"/>
            </a:solidFill>
            <a:prstDash val="solid"/>
          </a:ln>
        </p:spPr>
        <p:txBody>
          <a:bodyPr/>
          <a:lstStyle/>
          <a:p>
            <a:endParaRPr lang="en-US"/>
          </a:p>
        </p:txBody>
      </p:sp>
      <p:sp>
        <p:nvSpPr>
          <p:cNvPr id="23" name="Text 21"/>
          <p:cNvSpPr/>
          <p:nvPr/>
        </p:nvSpPr>
        <p:spPr>
          <a:xfrm>
            <a:off x="347472" y="2542032"/>
            <a:ext cx="1865376" cy="50292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Network structure</a:t>
            </a:r>
            <a:endParaRPr lang="en-US" sz="1000" dirty="0"/>
          </a:p>
        </p:txBody>
      </p:sp>
      <p:sp>
        <p:nvSpPr>
          <p:cNvPr id="24" name="Shape 22"/>
          <p:cNvSpPr/>
          <p:nvPr/>
        </p:nvSpPr>
        <p:spPr>
          <a:xfrm>
            <a:off x="2286000" y="2505456"/>
            <a:ext cx="3108960" cy="576072"/>
          </a:xfrm>
          <a:prstGeom prst="rect">
            <a:avLst/>
          </a:prstGeom>
          <a:solidFill>
            <a:srgbClr val="EEF4F8"/>
          </a:solidFill>
          <a:ln w="6350">
            <a:solidFill>
              <a:srgbClr val="D0DDE8"/>
            </a:solidFill>
            <a:prstDash val="solid"/>
          </a:ln>
        </p:spPr>
        <p:txBody>
          <a:bodyPr/>
          <a:lstStyle/>
          <a:p>
            <a:endParaRPr lang="en-US"/>
          </a:p>
        </p:txBody>
      </p:sp>
      <p:sp>
        <p:nvSpPr>
          <p:cNvPr id="25" name="Text 23"/>
          <p:cNvSpPr/>
          <p:nvPr/>
        </p:nvSpPr>
        <p:spPr>
          <a:xfrm>
            <a:off x="2359152" y="2542032"/>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Additive B + S decomposition</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(shared baseline + sparse deviation)</a:t>
            </a:r>
            <a:endParaRPr lang="en-US" sz="1000" dirty="0"/>
          </a:p>
        </p:txBody>
      </p:sp>
      <p:sp>
        <p:nvSpPr>
          <p:cNvPr id="26" name="Shape 24"/>
          <p:cNvSpPr/>
          <p:nvPr/>
        </p:nvSpPr>
        <p:spPr>
          <a:xfrm>
            <a:off x="5394960" y="2505456"/>
            <a:ext cx="3108960" cy="576072"/>
          </a:xfrm>
          <a:prstGeom prst="rect">
            <a:avLst/>
          </a:prstGeom>
          <a:solidFill>
            <a:srgbClr val="EEF4F8"/>
          </a:solidFill>
          <a:ln w="6350">
            <a:solidFill>
              <a:srgbClr val="D0DDE8"/>
            </a:solidFill>
            <a:prstDash val="solid"/>
          </a:ln>
        </p:spPr>
        <p:txBody>
          <a:bodyPr/>
          <a:lstStyle/>
          <a:p>
            <a:endParaRPr lang="en-US"/>
          </a:p>
        </p:txBody>
      </p:sp>
      <p:sp>
        <p:nvSpPr>
          <p:cNvPr id="27" name="Text 25"/>
          <p:cNvSpPr/>
          <p:nvPr/>
        </p:nvSpPr>
        <p:spPr>
          <a:xfrm>
            <a:off x="5468112" y="2542032"/>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Single W per task, coupled</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via graph fusion penalty</a:t>
            </a:r>
            <a:endParaRPr lang="en-US" sz="1000" dirty="0"/>
          </a:p>
        </p:txBody>
      </p:sp>
      <p:sp>
        <p:nvSpPr>
          <p:cNvPr id="28" name="Shape 26"/>
          <p:cNvSpPr/>
          <p:nvPr/>
        </p:nvSpPr>
        <p:spPr>
          <a:xfrm>
            <a:off x="274320" y="3081528"/>
            <a:ext cx="2011680" cy="576072"/>
          </a:xfrm>
          <a:prstGeom prst="rect">
            <a:avLst/>
          </a:prstGeom>
          <a:solidFill>
            <a:srgbClr val="FFFFFF"/>
          </a:solidFill>
          <a:ln w="6350">
            <a:solidFill>
              <a:srgbClr val="D0DDE8"/>
            </a:solidFill>
            <a:prstDash val="solid"/>
          </a:ln>
        </p:spPr>
        <p:txBody>
          <a:bodyPr/>
          <a:lstStyle/>
          <a:p>
            <a:endParaRPr lang="en-US"/>
          </a:p>
        </p:txBody>
      </p:sp>
      <p:sp>
        <p:nvSpPr>
          <p:cNvPr id="29" name="Text 27"/>
          <p:cNvSpPr/>
          <p:nvPr/>
        </p:nvSpPr>
        <p:spPr>
          <a:xfrm>
            <a:off x="347472" y="3118104"/>
            <a:ext cx="1865376" cy="50292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Prior Φ</a:t>
            </a:r>
            <a:endParaRPr lang="en-US" sz="1000" dirty="0"/>
          </a:p>
        </p:txBody>
      </p:sp>
      <p:sp>
        <p:nvSpPr>
          <p:cNvPr id="30" name="Shape 28"/>
          <p:cNvSpPr/>
          <p:nvPr/>
        </p:nvSpPr>
        <p:spPr>
          <a:xfrm>
            <a:off x="2286000" y="3081528"/>
            <a:ext cx="3108960" cy="576072"/>
          </a:xfrm>
          <a:prstGeom prst="rect">
            <a:avLst/>
          </a:prstGeom>
          <a:solidFill>
            <a:srgbClr val="FFFFFF"/>
          </a:solidFill>
          <a:ln w="6350">
            <a:solidFill>
              <a:srgbClr val="D0DDE8"/>
            </a:solidFill>
            <a:prstDash val="solid"/>
          </a:ln>
        </p:spPr>
        <p:txBody>
          <a:bodyPr/>
          <a:lstStyle/>
          <a:p>
            <a:endParaRPr lang="en-US"/>
          </a:p>
        </p:txBody>
      </p:sp>
      <p:sp>
        <p:nvSpPr>
          <p:cNvPr id="31" name="Text 29"/>
          <p:cNvSpPr/>
          <p:nvPr/>
        </p:nvSpPr>
        <p:spPr>
          <a:xfrm>
            <a:off x="2359152" y="3118104"/>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Applied to S only</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(sparse deviation term)</a:t>
            </a:r>
            <a:endParaRPr lang="en-US" sz="1000" dirty="0"/>
          </a:p>
        </p:txBody>
      </p:sp>
      <p:sp>
        <p:nvSpPr>
          <p:cNvPr id="32" name="Shape 30"/>
          <p:cNvSpPr/>
          <p:nvPr/>
        </p:nvSpPr>
        <p:spPr>
          <a:xfrm>
            <a:off x="5394960" y="3081528"/>
            <a:ext cx="3108960" cy="576072"/>
          </a:xfrm>
          <a:prstGeom prst="rect">
            <a:avLst/>
          </a:prstGeom>
          <a:solidFill>
            <a:srgbClr val="FFFFFF"/>
          </a:solidFill>
          <a:ln w="6350">
            <a:solidFill>
              <a:srgbClr val="D0DDE8"/>
            </a:solidFill>
            <a:prstDash val="solid"/>
          </a:ln>
        </p:spPr>
        <p:txBody>
          <a:bodyPr/>
          <a:lstStyle/>
          <a:p>
            <a:endParaRPr lang="en-US"/>
          </a:p>
        </p:txBody>
      </p:sp>
      <p:sp>
        <p:nvSpPr>
          <p:cNvPr id="33" name="Text 31"/>
          <p:cNvSpPr/>
          <p:nvPr/>
        </p:nvSpPr>
        <p:spPr>
          <a:xfrm>
            <a:off x="5468112" y="3118104"/>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Applied to all W^(d)</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(every task, full weight matrix)</a:t>
            </a:r>
            <a:endParaRPr lang="en-US" sz="1000" dirty="0"/>
          </a:p>
        </p:txBody>
      </p:sp>
      <p:sp>
        <p:nvSpPr>
          <p:cNvPr id="34" name="Shape 32"/>
          <p:cNvSpPr/>
          <p:nvPr/>
        </p:nvSpPr>
        <p:spPr>
          <a:xfrm>
            <a:off x="274320" y="3657600"/>
            <a:ext cx="2011680" cy="576072"/>
          </a:xfrm>
          <a:prstGeom prst="rect">
            <a:avLst/>
          </a:prstGeom>
          <a:solidFill>
            <a:srgbClr val="EEF4F8"/>
          </a:solidFill>
          <a:ln w="6350">
            <a:solidFill>
              <a:srgbClr val="D0DDE8"/>
            </a:solidFill>
            <a:prstDash val="solid"/>
          </a:ln>
        </p:spPr>
        <p:txBody>
          <a:bodyPr/>
          <a:lstStyle/>
          <a:p>
            <a:endParaRPr lang="en-US"/>
          </a:p>
        </p:txBody>
      </p:sp>
      <p:sp>
        <p:nvSpPr>
          <p:cNvPr id="35" name="Text 33"/>
          <p:cNvSpPr/>
          <p:nvPr/>
        </p:nvSpPr>
        <p:spPr>
          <a:xfrm>
            <a:off x="347472" y="3694176"/>
            <a:ext cx="1865376" cy="50292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Solver</a:t>
            </a:r>
            <a:endParaRPr lang="en-US" sz="1000" dirty="0"/>
          </a:p>
        </p:txBody>
      </p:sp>
      <p:sp>
        <p:nvSpPr>
          <p:cNvPr id="36" name="Shape 34"/>
          <p:cNvSpPr/>
          <p:nvPr/>
        </p:nvSpPr>
        <p:spPr>
          <a:xfrm>
            <a:off x="2286000" y="3657600"/>
            <a:ext cx="3108960" cy="576072"/>
          </a:xfrm>
          <a:prstGeom prst="rect">
            <a:avLst/>
          </a:prstGeom>
          <a:solidFill>
            <a:srgbClr val="EEF4F8"/>
          </a:solidFill>
          <a:ln w="6350">
            <a:solidFill>
              <a:srgbClr val="D0DDE8"/>
            </a:solidFill>
            <a:prstDash val="solid"/>
          </a:ln>
        </p:spPr>
        <p:txBody>
          <a:bodyPr/>
          <a:lstStyle/>
          <a:p>
            <a:endParaRPr lang="en-US"/>
          </a:p>
        </p:txBody>
      </p:sp>
      <p:sp>
        <p:nvSpPr>
          <p:cNvPr id="37" name="Text 35"/>
          <p:cNvSpPr/>
          <p:nvPr/>
        </p:nvSpPr>
        <p:spPr>
          <a:xfrm>
            <a:off x="2359152" y="3694176"/>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Closed-form / GLMNet</a:t>
            </a:r>
            <a:endParaRPr lang="en-US" sz="1000" dirty="0"/>
          </a:p>
        </p:txBody>
      </p:sp>
      <p:sp>
        <p:nvSpPr>
          <p:cNvPr id="38" name="Shape 36"/>
          <p:cNvSpPr/>
          <p:nvPr/>
        </p:nvSpPr>
        <p:spPr>
          <a:xfrm>
            <a:off x="5394960" y="3657600"/>
            <a:ext cx="3108960" cy="576072"/>
          </a:xfrm>
          <a:prstGeom prst="rect">
            <a:avLst/>
          </a:prstGeom>
          <a:solidFill>
            <a:srgbClr val="EEF4F8"/>
          </a:solidFill>
          <a:ln w="6350">
            <a:solidFill>
              <a:srgbClr val="D0DDE8"/>
            </a:solidFill>
            <a:prstDash val="solid"/>
          </a:ln>
        </p:spPr>
        <p:txBody>
          <a:bodyPr/>
          <a:lstStyle/>
          <a:p>
            <a:endParaRPr lang="en-US"/>
          </a:p>
        </p:txBody>
      </p:sp>
      <p:sp>
        <p:nvSpPr>
          <p:cNvPr id="39" name="Text 37"/>
          <p:cNvSpPr/>
          <p:nvPr/>
        </p:nvSpPr>
        <p:spPr>
          <a:xfrm>
            <a:off x="5468112" y="3694176"/>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ADMM — per-gene, tasks coupled</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within each gene's subproblem</a:t>
            </a:r>
            <a:endParaRPr lang="en-US" sz="1000" dirty="0"/>
          </a:p>
        </p:txBody>
      </p:sp>
      <p:sp>
        <p:nvSpPr>
          <p:cNvPr id="40" name="Shape 38"/>
          <p:cNvSpPr/>
          <p:nvPr/>
        </p:nvSpPr>
        <p:spPr>
          <a:xfrm>
            <a:off x="274320" y="4233672"/>
            <a:ext cx="2011680" cy="576072"/>
          </a:xfrm>
          <a:prstGeom prst="rect">
            <a:avLst/>
          </a:prstGeom>
          <a:solidFill>
            <a:srgbClr val="FFFFFF"/>
          </a:solidFill>
          <a:ln w="6350">
            <a:solidFill>
              <a:srgbClr val="D0DDE8"/>
            </a:solidFill>
            <a:prstDash val="solid"/>
          </a:ln>
        </p:spPr>
        <p:txBody>
          <a:bodyPr/>
          <a:lstStyle/>
          <a:p>
            <a:endParaRPr lang="en-US"/>
          </a:p>
        </p:txBody>
      </p:sp>
      <p:sp>
        <p:nvSpPr>
          <p:cNvPr id="41" name="Text 39"/>
          <p:cNvSpPr/>
          <p:nvPr/>
        </p:nvSpPr>
        <p:spPr>
          <a:xfrm>
            <a:off x="347472" y="4270248"/>
            <a:ext cx="1865376" cy="50292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Output</a:t>
            </a:r>
            <a:endParaRPr lang="en-US" sz="1000" dirty="0"/>
          </a:p>
        </p:txBody>
      </p:sp>
      <p:sp>
        <p:nvSpPr>
          <p:cNvPr id="42" name="Shape 40"/>
          <p:cNvSpPr/>
          <p:nvPr/>
        </p:nvSpPr>
        <p:spPr>
          <a:xfrm>
            <a:off x="2286000" y="4233672"/>
            <a:ext cx="3108960" cy="576072"/>
          </a:xfrm>
          <a:prstGeom prst="rect">
            <a:avLst/>
          </a:prstGeom>
          <a:solidFill>
            <a:srgbClr val="FFFFFF"/>
          </a:solidFill>
          <a:ln w="6350">
            <a:solidFill>
              <a:srgbClr val="D0DDE8"/>
            </a:solidFill>
            <a:prstDash val="solid"/>
          </a:ln>
        </p:spPr>
        <p:txBody>
          <a:bodyPr/>
          <a:lstStyle/>
          <a:p>
            <a:endParaRPr lang="en-US"/>
          </a:p>
        </p:txBody>
      </p:sp>
      <p:sp>
        <p:nvSpPr>
          <p:cNvPr id="43" name="Text 41"/>
          <p:cNvSpPr/>
          <p:nvPr/>
        </p:nvSpPr>
        <p:spPr>
          <a:xfrm>
            <a:off x="2359152" y="4270248"/>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One consensus + per-study S</a:t>
            </a:r>
            <a:endParaRPr lang="en-US" sz="1000" dirty="0"/>
          </a:p>
        </p:txBody>
      </p:sp>
      <p:sp>
        <p:nvSpPr>
          <p:cNvPr id="44" name="Shape 42"/>
          <p:cNvSpPr/>
          <p:nvPr/>
        </p:nvSpPr>
        <p:spPr>
          <a:xfrm>
            <a:off x="5394960" y="4233672"/>
            <a:ext cx="3108960" cy="576072"/>
          </a:xfrm>
          <a:prstGeom prst="rect">
            <a:avLst/>
          </a:prstGeom>
          <a:solidFill>
            <a:srgbClr val="FFFFFF"/>
          </a:solidFill>
          <a:ln w="6350">
            <a:solidFill>
              <a:srgbClr val="D0DDE8"/>
            </a:solidFill>
            <a:prstDash val="solid"/>
          </a:ln>
        </p:spPr>
        <p:txBody>
          <a:bodyPr/>
          <a:lstStyle/>
          <a:p>
            <a:endParaRPr lang="en-US"/>
          </a:p>
        </p:txBody>
      </p:sp>
      <p:sp>
        <p:nvSpPr>
          <p:cNvPr id="45" name="Text 43"/>
          <p:cNvSpPr/>
          <p:nvPr/>
        </p:nvSpPr>
        <p:spPr>
          <a:xfrm>
            <a:off x="5468112" y="4270248"/>
            <a:ext cx="2962656" cy="50292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Per-task network + consensus</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averaged across tasks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A896"/>
          </a:solidFill>
          <a:ln w="12700">
            <a:solidFill>
              <a:srgbClr val="00A896"/>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ADMM Solver — Per-Gene, Tasks Coupled</a:t>
            </a:r>
            <a:endParaRPr lang="en-US" sz="2000" dirty="0"/>
          </a:p>
        </p:txBody>
      </p:sp>
      <p:sp>
        <p:nvSpPr>
          <p:cNvPr id="4" name="Shape 2"/>
          <p:cNvSpPr/>
          <p:nvPr/>
        </p:nvSpPr>
        <p:spPr>
          <a:xfrm>
            <a:off x="274320" y="804672"/>
            <a:ext cx="8595360" cy="594360"/>
          </a:xfrm>
          <a:prstGeom prst="rect">
            <a:avLst/>
          </a:prstGeom>
          <a:solidFill>
            <a:srgbClr val="02C39A">
              <a:alpha val="20000"/>
            </a:srgbClr>
          </a:solidFill>
          <a:ln w="19050">
            <a:solidFill>
              <a:srgbClr val="02C39A"/>
            </a:solidFill>
            <a:prstDash val="solid"/>
          </a:ln>
        </p:spPr>
        <p:txBody>
          <a:bodyPr/>
          <a:lstStyle/>
          <a:p>
            <a:endParaRPr lang="en-US"/>
          </a:p>
        </p:txBody>
      </p:sp>
      <p:sp>
        <p:nvSpPr>
          <p:cNvPr id="5" name="Text 3"/>
          <p:cNvSpPr/>
          <p:nvPr/>
        </p:nvSpPr>
        <p:spPr>
          <a:xfrm>
            <a:off x="411480" y="841248"/>
            <a:ext cx="8321040" cy="502920"/>
          </a:xfrm>
          <a:prstGeom prst="rect">
            <a:avLst/>
          </a:prstGeom>
          <a:noFill/>
          <a:ln/>
        </p:spPr>
        <p:txBody>
          <a:bodyPr wrap="square" rtlCol="0" anchor="ctr"/>
          <a:lstStyle/>
          <a:p>
            <a:pPr marL="0" indent="0">
              <a:buNone/>
            </a:pPr>
            <a:r>
              <a:rPr lang="en-US" sz="1100" i="1" dirty="0">
                <a:solidFill>
                  <a:srgbClr val="0D1B2A"/>
                </a:solidFill>
                <a:latin typeface="Calibri" pitchFamily="34" charset="0"/>
                <a:ea typeface="Calibri" pitchFamily="34" charset="-122"/>
                <a:cs typeface="Calibri" pitchFamily="34" charset="-120"/>
              </a:rPr>
              <a:t>Key insight: the fusion penalty is separable per target gene — tasks are coupled within each gene's ADMM subproblem, not across genes. Per-gene parallelism (Threads.@threads) is fully preserved.</a:t>
            </a:r>
            <a:endParaRPr lang="en-US" sz="1100" dirty="0"/>
          </a:p>
        </p:txBody>
      </p:sp>
      <p:sp>
        <p:nvSpPr>
          <p:cNvPr id="6" name="Shape 4"/>
          <p:cNvSpPr/>
          <p:nvPr/>
        </p:nvSpPr>
        <p:spPr>
          <a:xfrm>
            <a:off x="274320" y="1536192"/>
            <a:ext cx="2743200" cy="3383280"/>
          </a:xfrm>
          <a:prstGeom prst="rect">
            <a:avLst/>
          </a:prstGeom>
          <a:solidFill>
            <a:srgbClr val="FFFFFF"/>
          </a:solidFill>
          <a:ln w="2540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365760" y="1600200"/>
            <a:ext cx="457200" cy="457200"/>
          </a:xfrm>
          <a:prstGeom prst="rect">
            <a:avLst/>
          </a:prstGeom>
          <a:noFill/>
          <a:ln/>
        </p:spPr>
        <p:txBody>
          <a:bodyPr wrap="square" rtlCol="0" anchor="ctr"/>
          <a:lstStyle/>
          <a:p>
            <a:pPr marL="0" indent="0">
              <a:buNone/>
            </a:pPr>
            <a:r>
              <a:rPr lang="en-US" sz="2200" b="1" dirty="0">
                <a:solidFill>
                  <a:srgbClr val="F4A261"/>
                </a:solidFill>
                <a:latin typeface="Calibri" pitchFamily="34" charset="0"/>
                <a:ea typeface="Calibri" pitchFamily="34" charset="-122"/>
                <a:cs typeface="Calibri" pitchFamily="34" charset="-120"/>
              </a:rPr>
              <a:t>①</a:t>
            </a:r>
            <a:endParaRPr lang="en-US" sz="2200" dirty="0"/>
          </a:p>
        </p:txBody>
      </p:sp>
      <p:sp>
        <p:nvSpPr>
          <p:cNvPr id="8" name="Text 6"/>
          <p:cNvSpPr/>
          <p:nvPr/>
        </p:nvSpPr>
        <p:spPr>
          <a:xfrm>
            <a:off x="822960" y="1609344"/>
            <a:ext cx="2103120" cy="320040"/>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W-update</a:t>
            </a:r>
            <a:endParaRPr lang="en-US" sz="1300" dirty="0"/>
          </a:p>
        </p:txBody>
      </p:sp>
      <p:sp>
        <p:nvSpPr>
          <p:cNvPr id="9" name="Text 7"/>
          <p:cNvSpPr/>
          <p:nvPr/>
        </p:nvSpPr>
        <p:spPr>
          <a:xfrm>
            <a:off x="365760" y="1993392"/>
            <a:ext cx="2560320" cy="274320"/>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Per-task weighted LASSO</a:t>
            </a:r>
            <a:endParaRPr lang="en-US" sz="1100" dirty="0"/>
          </a:p>
        </p:txBody>
      </p:sp>
      <p:sp>
        <p:nvSpPr>
          <p:cNvPr id="10" name="Shape 8"/>
          <p:cNvSpPr/>
          <p:nvPr/>
        </p:nvSpPr>
        <p:spPr>
          <a:xfrm>
            <a:off x="365760" y="2304288"/>
            <a:ext cx="2560320" cy="0"/>
          </a:xfrm>
          <a:prstGeom prst="line">
            <a:avLst/>
          </a:prstGeom>
          <a:noFill/>
          <a:ln w="10160">
            <a:solidFill>
              <a:srgbClr val="F4A261"/>
            </a:solidFill>
            <a:prstDash val="solid"/>
          </a:ln>
        </p:spPr>
        <p:txBody>
          <a:bodyPr/>
          <a:lstStyle/>
          <a:p>
            <a:endParaRPr lang="en-US"/>
          </a:p>
        </p:txBody>
      </p:sp>
      <p:sp>
        <p:nvSpPr>
          <p:cNvPr id="11" name="Text 9"/>
          <p:cNvSpPr/>
          <p:nvPr/>
        </p:nvSpPr>
        <p:spPr>
          <a:xfrm>
            <a:off x="365760" y="2377440"/>
            <a:ext cx="2560320" cy="2377440"/>
          </a:xfrm>
          <a:prstGeom prst="rect">
            <a:avLst/>
          </a:prstGeom>
          <a:noFill/>
          <a:ln/>
        </p:spPr>
        <p:txBody>
          <a:bodyPr wrap="square" rtlCol="0" anchor="ctr"/>
          <a:lstStyle/>
          <a:p>
            <a:pPr marL="0" indent="0">
              <a:buNone/>
            </a:pPr>
            <a:endParaRPr lang="en-US" sz="1000" dirty="0"/>
          </a:p>
          <a:p>
            <a:pPr marL="0" indent="0">
              <a:buNone/>
            </a:pP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Augmented response/predictor passed to GLMNet.</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Identical to original for tasks with no fusion neighbors.</a:t>
            </a:r>
            <a:endParaRPr lang="en-US" sz="1000" dirty="0"/>
          </a:p>
        </p:txBody>
      </p:sp>
      <p:sp>
        <p:nvSpPr>
          <p:cNvPr id="12" name="Shape 10"/>
          <p:cNvSpPr/>
          <p:nvPr/>
        </p:nvSpPr>
        <p:spPr>
          <a:xfrm>
            <a:off x="3154680" y="1536192"/>
            <a:ext cx="2743200" cy="3383280"/>
          </a:xfrm>
          <a:prstGeom prst="rect">
            <a:avLst/>
          </a:prstGeom>
          <a:solidFill>
            <a:srgbClr val="FFFFFF"/>
          </a:solidFill>
          <a:ln w="25400">
            <a:solidFill>
              <a:srgbClr val="E76F51"/>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3246120" y="1600200"/>
            <a:ext cx="457200" cy="457200"/>
          </a:xfrm>
          <a:prstGeom prst="rect">
            <a:avLst/>
          </a:prstGeom>
          <a:noFill/>
          <a:ln/>
        </p:spPr>
        <p:txBody>
          <a:bodyPr wrap="square" rtlCol="0" anchor="ctr"/>
          <a:lstStyle/>
          <a:p>
            <a:pPr marL="0" indent="0">
              <a:buNone/>
            </a:pPr>
            <a:r>
              <a:rPr lang="en-US" sz="2200" b="1" dirty="0">
                <a:solidFill>
                  <a:srgbClr val="E76F51"/>
                </a:solidFill>
                <a:latin typeface="Calibri" pitchFamily="34" charset="0"/>
                <a:ea typeface="Calibri" pitchFamily="34" charset="-122"/>
                <a:cs typeface="Calibri" pitchFamily="34" charset="-120"/>
              </a:rPr>
              <a:t>②</a:t>
            </a:r>
            <a:endParaRPr lang="en-US" sz="2200" dirty="0"/>
          </a:p>
        </p:txBody>
      </p:sp>
      <p:sp>
        <p:nvSpPr>
          <p:cNvPr id="14" name="Text 12"/>
          <p:cNvSpPr/>
          <p:nvPr/>
        </p:nvSpPr>
        <p:spPr>
          <a:xfrm>
            <a:off x="3703320" y="1609344"/>
            <a:ext cx="2103120" cy="320040"/>
          </a:xfrm>
          <a:prstGeom prst="rect">
            <a:avLst/>
          </a:prstGeom>
          <a:noFill/>
          <a:ln/>
        </p:spPr>
        <p:txBody>
          <a:bodyPr wrap="square" rtlCol="0" anchor="ctr"/>
          <a:lstStyle/>
          <a:p>
            <a:pPr marL="0" indent="0">
              <a:buNone/>
            </a:pPr>
            <a:r>
              <a:rPr lang="en-US" sz="1300" b="1" dirty="0">
                <a:solidFill>
                  <a:srgbClr val="E76F51"/>
                </a:solidFill>
                <a:latin typeface="Calibri" pitchFamily="34" charset="0"/>
                <a:ea typeface="Calibri" pitchFamily="34" charset="-122"/>
                <a:cs typeface="Calibri" pitchFamily="34" charset="-120"/>
              </a:rPr>
              <a:t>Z-update</a:t>
            </a:r>
            <a:endParaRPr lang="en-US" sz="1300" dirty="0"/>
          </a:p>
        </p:txBody>
      </p:sp>
      <p:sp>
        <p:nvSpPr>
          <p:cNvPr id="15" name="Text 13"/>
          <p:cNvSpPr/>
          <p:nvPr/>
        </p:nvSpPr>
        <p:spPr>
          <a:xfrm>
            <a:off x="3246120" y="1993392"/>
            <a:ext cx="2560320" cy="274320"/>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Fusion proximal operator</a:t>
            </a:r>
            <a:endParaRPr lang="en-US" sz="1100" dirty="0"/>
          </a:p>
        </p:txBody>
      </p:sp>
      <p:sp>
        <p:nvSpPr>
          <p:cNvPr id="16" name="Shape 14"/>
          <p:cNvSpPr/>
          <p:nvPr/>
        </p:nvSpPr>
        <p:spPr>
          <a:xfrm>
            <a:off x="3246120" y="2304288"/>
            <a:ext cx="2560320" cy="0"/>
          </a:xfrm>
          <a:prstGeom prst="line">
            <a:avLst/>
          </a:prstGeom>
          <a:noFill/>
          <a:ln w="10160">
            <a:solidFill>
              <a:srgbClr val="E76F51"/>
            </a:solidFill>
            <a:prstDash val="solid"/>
          </a:ln>
        </p:spPr>
        <p:txBody>
          <a:bodyPr/>
          <a:lstStyle/>
          <a:p>
            <a:endParaRPr lang="en-US"/>
          </a:p>
        </p:txBody>
      </p:sp>
      <p:sp>
        <p:nvSpPr>
          <p:cNvPr id="17" name="Text 15"/>
          <p:cNvSpPr/>
          <p:nvPr/>
        </p:nvSpPr>
        <p:spPr>
          <a:xfrm>
            <a:off x="3246120" y="2377440"/>
            <a:ext cx="2560320" cy="2377440"/>
          </a:xfrm>
          <a:prstGeom prst="rect">
            <a:avLst/>
          </a:prstGeom>
          <a:noFill/>
          <a:ln/>
        </p:spPr>
        <p:txBody>
          <a:bodyPr wrap="square" rtlCol="0" anchor="ctr"/>
          <a:lstStyle/>
          <a:p>
            <a:pPr marL="0" indent="0">
              <a:buNone/>
            </a:pPr>
            <a:endParaRPr lang="en-US" sz="1000" dirty="0"/>
          </a:p>
          <a:p>
            <a:pPr marL="0" indent="0">
              <a:buNone/>
            </a:pP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Soft thresholding on pairwise task differences.</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Threshold weighted by sim(d,d') — similar tasks,</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stronger pull.</a:t>
            </a:r>
            <a:endParaRPr lang="en-US" sz="1000" dirty="0"/>
          </a:p>
        </p:txBody>
      </p:sp>
      <p:sp>
        <p:nvSpPr>
          <p:cNvPr id="18" name="Shape 16"/>
          <p:cNvSpPr/>
          <p:nvPr/>
        </p:nvSpPr>
        <p:spPr>
          <a:xfrm>
            <a:off x="6035040" y="1536192"/>
            <a:ext cx="2743200" cy="3383280"/>
          </a:xfrm>
          <a:prstGeom prst="rect">
            <a:avLst/>
          </a:prstGeom>
          <a:solidFill>
            <a:srgbClr val="FFFFFF"/>
          </a:solidFill>
          <a:ln w="25400">
            <a:solidFill>
              <a:srgbClr val="00A896"/>
            </a:solidFill>
            <a:prstDash val="solid"/>
          </a:ln>
          <a:effectLst>
            <a:outerShdw blurRad="101600" dist="38100" dir="8100000" algn="bl" rotWithShape="0">
              <a:srgbClr val="000000">
                <a:alpha val="12000"/>
              </a:srgbClr>
            </a:outerShdw>
          </a:effectLst>
        </p:spPr>
        <p:txBody>
          <a:bodyPr/>
          <a:lstStyle/>
          <a:p>
            <a:endParaRPr lang="en-US"/>
          </a:p>
        </p:txBody>
      </p:sp>
      <p:sp>
        <p:nvSpPr>
          <p:cNvPr id="19" name="Text 17"/>
          <p:cNvSpPr/>
          <p:nvPr/>
        </p:nvSpPr>
        <p:spPr>
          <a:xfrm>
            <a:off x="6126480" y="1600200"/>
            <a:ext cx="457200" cy="457200"/>
          </a:xfrm>
          <a:prstGeom prst="rect">
            <a:avLst/>
          </a:prstGeom>
          <a:noFill/>
          <a:ln/>
        </p:spPr>
        <p:txBody>
          <a:bodyPr wrap="square"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③</a:t>
            </a:r>
            <a:endParaRPr lang="en-US" sz="2200" dirty="0"/>
          </a:p>
        </p:txBody>
      </p:sp>
      <p:sp>
        <p:nvSpPr>
          <p:cNvPr id="20" name="Text 18"/>
          <p:cNvSpPr/>
          <p:nvPr/>
        </p:nvSpPr>
        <p:spPr>
          <a:xfrm>
            <a:off x="6583680" y="1609344"/>
            <a:ext cx="2103120" cy="320040"/>
          </a:xfrm>
          <a:prstGeom prst="rect">
            <a:avLst/>
          </a:prstGeom>
          <a:noFill/>
          <a:ln/>
        </p:spPr>
        <p:txBody>
          <a:bodyPr wrap="square"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U-update</a:t>
            </a:r>
            <a:endParaRPr lang="en-US" sz="1300" dirty="0"/>
          </a:p>
        </p:txBody>
      </p:sp>
      <p:sp>
        <p:nvSpPr>
          <p:cNvPr id="21" name="Text 19"/>
          <p:cNvSpPr/>
          <p:nvPr/>
        </p:nvSpPr>
        <p:spPr>
          <a:xfrm>
            <a:off x="6126480" y="1993392"/>
            <a:ext cx="2560320" cy="274320"/>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Dual variable update</a:t>
            </a:r>
            <a:endParaRPr lang="en-US" sz="1100" dirty="0"/>
          </a:p>
        </p:txBody>
      </p:sp>
      <p:sp>
        <p:nvSpPr>
          <p:cNvPr id="22" name="Shape 20"/>
          <p:cNvSpPr/>
          <p:nvPr/>
        </p:nvSpPr>
        <p:spPr>
          <a:xfrm>
            <a:off x="6126480" y="2304288"/>
            <a:ext cx="2560320" cy="0"/>
          </a:xfrm>
          <a:prstGeom prst="line">
            <a:avLst/>
          </a:prstGeom>
          <a:noFill/>
          <a:ln w="10160">
            <a:solidFill>
              <a:srgbClr val="00A896"/>
            </a:solidFill>
            <a:prstDash val="solid"/>
          </a:ln>
        </p:spPr>
        <p:txBody>
          <a:bodyPr/>
          <a:lstStyle/>
          <a:p>
            <a:endParaRPr lang="en-US"/>
          </a:p>
        </p:txBody>
      </p:sp>
      <p:sp>
        <p:nvSpPr>
          <p:cNvPr id="23" name="Text 21"/>
          <p:cNvSpPr/>
          <p:nvPr/>
        </p:nvSpPr>
        <p:spPr>
          <a:xfrm>
            <a:off x="6126480" y="2377440"/>
            <a:ext cx="2560320" cy="2377440"/>
          </a:xfrm>
          <a:prstGeom prst="rect">
            <a:avLst/>
          </a:prstGeom>
          <a:noFill/>
          <a:ln/>
        </p:spPr>
        <p:txBody>
          <a:bodyPr wrap="square" rtlCol="0" anchor="ctr"/>
          <a:lstStyle/>
          <a:p>
            <a:pPr marL="0" indent="0">
              <a:buNone/>
            </a:pPr>
            <a:endParaRPr lang="en-US" sz="1000" dirty="0"/>
          </a:p>
          <a:p>
            <a:pPr marL="0" indent="0">
              <a:buNone/>
            </a:pP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Standard ADMM dual ascent step.</a:t>
            </a:r>
            <a:endParaRPr lang="en-US" sz="1000" dirty="0"/>
          </a:p>
          <a:p>
            <a:pPr marL="0" indent="0">
              <a:buNone/>
            </a:pPr>
            <a:r>
              <a:rPr lang="en-US" sz="1000" dirty="0">
                <a:solidFill>
                  <a:srgbClr val="1A2B3C"/>
                </a:solidFill>
                <a:latin typeface="Calibri" pitchFamily="34" charset="0"/>
                <a:ea typeface="Calibri" pitchFamily="34" charset="-122"/>
                <a:cs typeface="Calibri" pitchFamily="34" charset="-120"/>
              </a:rPr>
              <a:t>No solver required — pure arithmetic.</a:t>
            </a:r>
            <a:endParaRPr lang="en-US" sz="1000" dirty="0"/>
          </a:p>
        </p:txBody>
      </p:sp>
      <p:pic>
        <p:nvPicPr>
          <p:cNvPr id="24" name="Picture 23" descr="w_update.png"/>
          <p:cNvPicPr>
            <a:picLocks noChangeAspect="1"/>
          </p:cNvPicPr>
          <p:nvPr/>
        </p:nvPicPr>
        <p:blipFill>
          <a:blip r:embed="rId3"/>
          <a:stretch>
            <a:fillRect/>
          </a:stretch>
        </p:blipFill>
        <p:spPr>
          <a:xfrm>
            <a:off x="347472" y="2350008"/>
            <a:ext cx="2606040" cy="212961"/>
          </a:xfrm>
          <a:prstGeom prst="rect">
            <a:avLst/>
          </a:prstGeom>
        </p:spPr>
      </p:pic>
      <p:pic>
        <p:nvPicPr>
          <p:cNvPr id="25" name="Picture 24" descr="z_update.png"/>
          <p:cNvPicPr>
            <a:picLocks noChangeAspect="1"/>
          </p:cNvPicPr>
          <p:nvPr/>
        </p:nvPicPr>
        <p:blipFill>
          <a:blip r:embed="rId4"/>
          <a:stretch>
            <a:fillRect/>
          </a:stretch>
        </p:blipFill>
        <p:spPr>
          <a:xfrm>
            <a:off x="3227832" y="2350008"/>
            <a:ext cx="2606040" cy="364131"/>
          </a:xfrm>
          <a:prstGeom prst="rect">
            <a:avLst/>
          </a:prstGeom>
        </p:spPr>
      </p:pic>
      <p:pic>
        <p:nvPicPr>
          <p:cNvPr id="26" name="Picture 25" descr="u_update.png"/>
          <p:cNvPicPr>
            <a:picLocks noChangeAspect="1"/>
          </p:cNvPicPr>
          <p:nvPr/>
        </p:nvPicPr>
        <p:blipFill>
          <a:blip r:embed="rId5"/>
          <a:stretch>
            <a:fillRect/>
          </a:stretch>
        </p:blipFill>
        <p:spPr>
          <a:xfrm>
            <a:off x="6108192" y="2350008"/>
            <a:ext cx="2606040" cy="4275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Package Structure — What Changed vs Unchanged</a:t>
            </a:r>
            <a:endParaRPr lang="en-US" sz="2000" dirty="0"/>
          </a:p>
        </p:txBody>
      </p:sp>
      <p:sp>
        <p:nvSpPr>
          <p:cNvPr id="4" name="Shape 2"/>
          <p:cNvSpPr/>
          <p:nvPr/>
        </p:nvSpPr>
        <p:spPr>
          <a:xfrm>
            <a:off x="274320" y="804672"/>
            <a:ext cx="4160520" cy="365760"/>
          </a:xfrm>
          <a:prstGeom prst="rect">
            <a:avLst/>
          </a:prstGeom>
          <a:solidFill>
            <a:srgbClr val="8899AA"/>
          </a:solidFill>
          <a:ln w="12700">
            <a:solidFill>
              <a:srgbClr val="8899AA"/>
            </a:solidFill>
            <a:prstDash val="solid"/>
          </a:ln>
        </p:spPr>
        <p:txBody>
          <a:bodyPr/>
          <a:lstStyle/>
          <a:p>
            <a:endParaRPr lang="en-US"/>
          </a:p>
        </p:txBody>
      </p:sp>
      <p:sp>
        <p:nvSpPr>
          <p:cNvPr id="5" name="Text 3"/>
          <p:cNvSpPr/>
          <p:nvPr/>
        </p:nvSpPr>
        <p:spPr>
          <a:xfrm>
            <a:off x="320040" y="822960"/>
            <a:ext cx="40690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UNCHANGED</a:t>
            </a:r>
            <a:endParaRPr lang="en-US" sz="1200" dirty="0"/>
          </a:p>
        </p:txBody>
      </p:sp>
      <p:sp>
        <p:nvSpPr>
          <p:cNvPr id="6" name="Shape 4"/>
          <p:cNvSpPr/>
          <p:nvPr/>
        </p:nvSpPr>
        <p:spPr>
          <a:xfrm>
            <a:off x="274320" y="1234440"/>
            <a:ext cx="4160520" cy="310896"/>
          </a:xfrm>
          <a:prstGeom prst="rect">
            <a:avLst/>
          </a:prstGeom>
          <a:solidFill>
            <a:srgbClr val="FFFFFF"/>
          </a:solidFill>
          <a:ln w="6350">
            <a:solidFill>
              <a:srgbClr val="D0DDE8"/>
            </a:solidFill>
            <a:prstDash val="solid"/>
          </a:ln>
        </p:spPr>
        <p:txBody>
          <a:bodyPr/>
          <a:lstStyle/>
          <a:p>
            <a:endParaRPr lang="en-US"/>
          </a:p>
        </p:txBody>
      </p:sp>
      <p:sp>
        <p:nvSpPr>
          <p:cNvPr id="7" name="Shape 5"/>
          <p:cNvSpPr/>
          <p:nvPr/>
        </p:nvSpPr>
        <p:spPr>
          <a:xfrm>
            <a:off x="320040" y="1316736"/>
            <a:ext cx="137160" cy="137160"/>
          </a:xfrm>
          <a:prstGeom prst="ellipse">
            <a:avLst/>
          </a:prstGeom>
          <a:solidFill>
            <a:srgbClr val="8899AA"/>
          </a:solidFill>
          <a:ln w="12700">
            <a:solidFill>
              <a:srgbClr val="8899AA"/>
            </a:solidFill>
            <a:prstDash val="solid"/>
          </a:ln>
        </p:spPr>
        <p:txBody>
          <a:bodyPr/>
          <a:lstStyle/>
          <a:p>
            <a:endParaRPr lang="en-US"/>
          </a:p>
        </p:txBody>
      </p:sp>
      <p:sp>
        <p:nvSpPr>
          <p:cNvPr id="8" name="Text 6"/>
          <p:cNvSpPr/>
          <p:nvPr/>
        </p:nvSpPr>
        <p:spPr>
          <a:xfrm>
            <a:off x="530352" y="1261872"/>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geneExpression.jl   — Data module</a:t>
            </a:r>
            <a:endParaRPr lang="en-US" sz="950" dirty="0"/>
          </a:p>
        </p:txBody>
      </p:sp>
      <p:sp>
        <p:nvSpPr>
          <p:cNvPr id="9" name="Shape 7"/>
          <p:cNvSpPr/>
          <p:nvPr/>
        </p:nvSpPr>
        <p:spPr>
          <a:xfrm>
            <a:off x="274320" y="1572768"/>
            <a:ext cx="4160520" cy="310896"/>
          </a:xfrm>
          <a:prstGeom prst="rect">
            <a:avLst/>
          </a:prstGeom>
          <a:solidFill>
            <a:srgbClr val="EEF4F8"/>
          </a:solidFill>
          <a:ln w="6350">
            <a:solidFill>
              <a:srgbClr val="D0DDE8"/>
            </a:solidFill>
            <a:prstDash val="solid"/>
          </a:ln>
        </p:spPr>
        <p:txBody>
          <a:bodyPr/>
          <a:lstStyle/>
          <a:p>
            <a:endParaRPr lang="en-US"/>
          </a:p>
        </p:txBody>
      </p:sp>
      <p:sp>
        <p:nvSpPr>
          <p:cNvPr id="10" name="Shape 8"/>
          <p:cNvSpPr/>
          <p:nvPr/>
        </p:nvSpPr>
        <p:spPr>
          <a:xfrm>
            <a:off x="320040" y="1655064"/>
            <a:ext cx="137160" cy="137160"/>
          </a:xfrm>
          <a:prstGeom prst="ellipse">
            <a:avLst/>
          </a:prstGeom>
          <a:solidFill>
            <a:srgbClr val="8899AA"/>
          </a:solidFill>
          <a:ln w="12700">
            <a:solidFill>
              <a:srgbClr val="8899AA"/>
            </a:solidFill>
            <a:prstDash val="solid"/>
          </a:ln>
        </p:spPr>
        <p:txBody>
          <a:bodyPr/>
          <a:lstStyle/>
          <a:p>
            <a:endParaRPr lang="en-US"/>
          </a:p>
        </p:txBody>
      </p:sp>
      <p:sp>
        <p:nvSpPr>
          <p:cNvPr id="11" name="Text 9"/>
          <p:cNvSpPr/>
          <p:nvPr/>
        </p:nvSpPr>
        <p:spPr>
          <a:xfrm>
            <a:off x="530352" y="1600200"/>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mergeDegenerateTFs.jl — MergeDegenerate</a:t>
            </a:r>
            <a:endParaRPr lang="en-US" sz="950" dirty="0"/>
          </a:p>
        </p:txBody>
      </p:sp>
      <p:sp>
        <p:nvSpPr>
          <p:cNvPr id="12" name="Shape 10"/>
          <p:cNvSpPr/>
          <p:nvPr/>
        </p:nvSpPr>
        <p:spPr>
          <a:xfrm>
            <a:off x="274320" y="1911096"/>
            <a:ext cx="4160520" cy="310896"/>
          </a:xfrm>
          <a:prstGeom prst="rect">
            <a:avLst/>
          </a:prstGeom>
          <a:solidFill>
            <a:srgbClr val="FFFFFF"/>
          </a:solidFill>
          <a:ln w="6350">
            <a:solidFill>
              <a:srgbClr val="D0DDE8"/>
            </a:solidFill>
            <a:prstDash val="solid"/>
          </a:ln>
        </p:spPr>
        <p:txBody>
          <a:bodyPr/>
          <a:lstStyle/>
          <a:p>
            <a:endParaRPr lang="en-US"/>
          </a:p>
        </p:txBody>
      </p:sp>
      <p:sp>
        <p:nvSpPr>
          <p:cNvPr id="13" name="Shape 11"/>
          <p:cNvSpPr/>
          <p:nvPr/>
        </p:nvSpPr>
        <p:spPr>
          <a:xfrm>
            <a:off x="320040" y="1993392"/>
            <a:ext cx="137160" cy="137160"/>
          </a:xfrm>
          <a:prstGeom prst="ellipse">
            <a:avLst/>
          </a:prstGeom>
          <a:solidFill>
            <a:srgbClr val="8899AA"/>
          </a:solidFill>
          <a:ln w="12700">
            <a:solidFill>
              <a:srgbClr val="8899AA"/>
            </a:solidFill>
            <a:prstDash val="solid"/>
          </a:ln>
        </p:spPr>
        <p:txBody>
          <a:bodyPr/>
          <a:lstStyle/>
          <a:p>
            <a:endParaRPr lang="en-US"/>
          </a:p>
        </p:txBody>
      </p:sp>
      <p:sp>
        <p:nvSpPr>
          <p:cNvPr id="14" name="Text 12"/>
          <p:cNvSpPr/>
          <p:nvPr/>
        </p:nvSpPr>
        <p:spPr>
          <a:xfrm>
            <a:off x="530352" y="1938528"/>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networkIO.jl        — I/O utilities</a:t>
            </a:r>
            <a:endParaRPr lang="en-US" sz="950" dirty="0"/>
          </a:p>
        </p:txBody>
      </p:sp>
      <p:sp>
        <p:nvSpPr>
          <p:cNvPr id="15" name="Shape 13"/>
          <p:cNvSpPr/>
          <p:nvPr/>
        </p:nvSpPr>
        <p:spPr>
          <a:xfrm>
            <a:off x="274320" y="2249424"/>
            <a:ext cx="4160520" cy="310896"/>
          </a:xfrm>
          <a:prstGeom prst="rect">
            <a:avLst/>
          </a:prstGeom>
          <a:solidFill>
            <a:srgbClr val="EEF4F8"/>
          </a:solidFill>
          <a:ln w="6350">
            <a:solidFill>
              <a:srgbClr val="D0DDE8"/>
            </a:solidFill>
            <a:prstDash val="solid"/>
          </a:ln>
        </p:spPr>
        <p:txBody>
          <a:bodyPr/>
          <a:lstStyle/>
          <a:p>
            <a:endParaRPr lang="en-US"/>
          </a:p>
        </p:txBody>
      </p:sp>
      <p:sp>
        <p:nvSpPr>
          <p:cNvPr id="16" name="Shape 14"/>
          <p:cNvSpPr/>
          <p:nvPr/>
        </p:nvSpPr>
        <p:spPr>
          <a:xfrm>
            <a:off x="320040" y="2331720"/>
            <a:ext cx="137160" cy="137160"/>
          </a:xfrm>
          <a:prstGeom prst="ellipse">
            <a:avLst/>
          </a:prstGeom>
          <a:solidFill>
            <a:srgbClr val="8899AA"/>
          </a:solidFill>
          <a:ln w="12700">
            <a:solidFill>
              <a:srgbClr val="8899AA"/>
            </a:solidFill>
            <a:prstDash val="solid"/>
          </a:ln>
        </p:spPr>
        <p:txBody>
          <a:bodyPr/>
          <a:lstStyle/>
          <a:p>
            <a:endParaRPr lang="en-US"/>
          </a:p>
        </p:txBody>
      </p:sp>
      <p:sp>
        <p:nvSpPr>
          <p:cNvPr id="17" name="Text 15"/>
          <p:cNvSpPr/>
          <p:nvPr/>
        </p:nvSpPr>
        <p:spPr>
          <a:xfrm>
            <a:off x="530352" y="2276856"/>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dataUtils.jl        — Data utilities</a:t>
            </a:r>
            <a:endParaRPr lang="en-US" sz="950" dirty="0"/>
          </a:p>
        </p:txBody>
      </p:sp>
      <p:sp>
        <p:nvSpPr>
          <p:cNvPr id="18" name="Shape 16"/>
          <p:cNvSpPr/>
          <p:nvPr/>
        </p:nvSpPr>
        <p:spPr>
          <a:xfrm>
            <a:off x="274320" y="2587752"/>
            <a:ext cx="4160520" cy="310896"/>
          </a:xfrm>
          <a:prstGeom prst="rect">
            <a:avLst/>
          </a:prstGeom>
          <a:solidFill>
            <a:srgbClr val="FFFFFF"/>
          </a:solidFill>
          <a:ln w="6350">
            <a:solidFill>
              <a:srgbClr val="D0DDE8"/>
            </a:solidFill>
            <a:prstDash val="solid"/>
          </a:ln>
        </p:spPr>
        <p:txBody>
          <a:bodyPr/>
          <a:lstStyle/>
          <a:p>
            <a:endParaRPr lang="en-US"/>
          </a:p>
        </p:txBody>
      </p:sp>
      <p:sp>
        <p:nvSpPr>
          <p:cNvPr id="19" name="Shape 17"/>
          <p:cNvSpPr/>
          <p:nvPr/>
        </p:nvSpPr>
        <p:spPr>
          <a:xfrm>
            <a:off x="320040" y="2670048"/>
            <a:ext cx="137160" cy="137160"/>
          </a:xfrm>
          <a:prstGeom prst="ellipse">
            <a:avLst/>
          </a:prstGeom>
          <a:solidFill>
            <a:srgbClr val="8899AA"/>
          </a:solidFill>
          <a:ln w="12700">
            <a:solidFill>
              <a:srgbClr val="8899AA"/>
            </a:solidFill>
            <a:prstDash val="solid"/>
          </a:ln>
        </p:spPr>
        <p:txBody>
          <a:bodyPr/>
          <a:lstStyle/>
          <a:p>
            <a:endParaRPr lang="en-US"/>
          </a:p>
        </p:txBody>
      </p:sp>
      <p:sp>
        <p:nvSpPr>
          <p:cNvPr id="20" name="Text 18"/>
          <p:cNvSpPr/>
          <p:nvPr/>
        </p:nvSpPr>
        <p:spPr>
          <a:xfrm>
            <a:off x="530352" y="2615184"/>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utilsGRN.jl         — firstNByGroup</a:t>
            </a:r>
            <a:endParaRPr lang="en-US" sz="950" dirty="0"/>
          </a:p>
        </p:txBody>
      </p:sp>
      <p:sp>
        <p:nvSpPr>
          <p:cNvPr id="21" name="Shape 19"/>
          <p:cNvSpPr/>
          <p:nvPr/>
        </p:nvSpPr>
        <p:spPr>
          <a:xfrm>
            <a:off x="274320" y="2926080"/>
            <a:ext cx="4160520" cy="310896"/>
          </a:xfrm>
          <a:prstGeom prst="rect">
            <a:avLst/>
          </a:prstGeom>
          <a:solidFill>
            <a:srgbClr val="EEF4F8"/>
          </a:solidFill>
          <a:ln w="6350">
            <a:solidFill>
              <a:srgbClr val="D0DDE8"/>
            </a:solidFill>
            <a:prstDash val="solid"/>
          </a:ln>
        </p:spPr>
        <p:txBody>
          <a:bodyPr/>
          <a:lstStyle/>
          <a:p>
            <a:endParaRPr lang="en-US"/>
          </a:p>
        </p:txBody>
      </p:sp>
      <p:sp>
        <p:nvSpPr>
          <p:cNvPr id="22" name="Shape 20"/>
          <p:cNvSpPr/>
          <p:nvPr/>
        </p:nvSpPr>
        <p:spPr>
          <a:xfrm>
            <a:off x="320040" y="3008376"/>
            <a:ext cx="137160" cy="137160"/>
          </a:xfrm>
          <a:prstGeom prst="ellipse">
            <a:avLst/>
          </a:prstGeom>
          <a:solidFill>
            <a:srgbClr val="8899AA"/>
          </a:solidFill>
          <a:ln w="12700">
            <a:solidFill>
              <a:srgbClr val="8899AA"/>
            </a:solidFill>
            <a:prstDash val="solid"/>
          </a:ln>
        </p:spPr>
        <p:txBody>
          <a:bodyPr/>
          <a:lstStyle/>
          <a:p>
            <a:endParaRPr lang="en-US"/>
          </a:p>
        </p:txBody>
      </p:sp>
      <p:sp>
        <p:nvSpPr>
          <p:cNvPr id="23" name="Text 21"/>
          <p:cNvSpPr/>
          <p:nvPr/>
        </p:nvSpPr>
        <p:spPr>
          <a:xfrm>
            <a:off x="530352" y="2953512"/>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prepareGRN.jl       — preparePredictorMat!, preparePenaltyMatrix!</a:t>
            </a:r>
            <a:endParaRPr lang="en-US" sz="950" dirty="0"/>
          </a:p>
        </p:txBody>
      </p:sp>
      <p:sp>
        <p:nvSpPr>
          <p:cNvPr id="24" name="Shape 22"/>
          <p:cNvSpPr/>
          <p:nvPr/>
        </p:nvSpPr>
        <p:spPr>
          <a:xfrm>
            <a:off x="274320" y="3264408"/>
            <a:ext cx="4160520" cy="310896"/>
          </a:xfrm>
          <a:prstGeom prst="rect">
            <a:avLst/>
          </a:prstGeom>
          <a:solidFill>
            <a:srgbClr val="FFFFFF"/>
          </a:solidFill>
          <a:ln w="6350">
            <a:solidFill>
              <a:srgbClr val="D0DDE8"/>
            </a:solidFill>
            <a:prstDash val="solid"/>
          </a:ln>
        </p:spPr>
        <p:txBody>
          <a:bodyPr/>
          <a:lstStyle/>
          <a:p>
            <a:endParaRPr lang="en-US"/>
          </a:p>
        </p:txBody>
      </p:sp>
      <p:sp>
        <p:nvSpPr>
          <p:cNvPr id="25" name="Shape 23"/>
          <p:cNvSpPr/>
          <p:nvPr/>
        </p:nvSpPr>
        <p:spPr>
          <a:xfrm>
            <a:off x="320040" y="3346704"/>
            <a:ext cx="137160" cy="137160"/>
          </a:xfrm>
          <a:prstGeom prst="ellipse">
            <a:avLst/>
          </a:prstGeom>
          <a:solidFill>
            <a:srgbClr val="8899AA"/>
          </a:solidFill>
          <a:ln w="12700">
            <a:solidFill>
              <a:srgbClr val="8899AA"/>
            </a:solidFill>
            <a:prstDash val="solid"/>
          </a:ln>
        </p:spPr>
        <p:txBody>
          <a:bodyPr/>
          <a:lstStyle/>
          <a:p>
            <a:endParaRPr lang="en-US"/>
          </a:p>
        </p:txBody>
      </p:sp>
      <p:sp>
        <p:nvSpPr>
          <p:cNvPr id="26" name="Text 24"/>
          <p:cNvSpPr/>
          <p:nvPr/>
        </p:nvSpPr>
        <p:spPr>
          <a:xfrm>
            <a:off x="530352" y="3291840"/>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buildGRN.jl         — chooseLambda!, rankEdges!</a:t>
            </a:r>
            <a:endParaRPr lang="en-US" sz="950" dirty="0"/>
          </a:p>
        </p:txBody>
      </p:sp>
      <p:sp>
        <p:nvSpPr>
          <p:cNvPr id="27" name="Shape 25"/>
          <p:cNvSpPr/>
          <p:nvPr/>
        </p:nvSpPr>
        <p:spPr>
          <a:xfrm>
            <a:off x="274320" y="3602736"/>
            <a:ext cx="4160520" cy="310896"/>
          </a:xfrm>
          <a:prstGeom prst="rect">
            <a:avLst/>
          </a:prstGeom>
          <a:solidFill>
            <a:srgbClr val="EEF4F8"/>
          </a:solidFill>
          <a:ln w="6350">
            <a:solidFill>
              <a:srgbClr val="D0DDE8"/>
            </a:solidFill>
            <a:prstDash val="solid"/>
          </a:ln>
        </p:spPr>
        <p:txBody>
          <a:bodyPr/>
          <a:lstStyle/>
          <a:p>
            <a:endParaRPr lang="en-US"/>
          </a:p>
        </p:txBody>
      </p:sp>
      <p:sp>
        <p:nvSpPr>
          <p:cNvPr id="28" name="Shape 26"/>
          <p:cNvSpPr/>
          <p:nvPr/>
        </p:nvSpPr>
        <p:spPr>
          <a:xfrm>
            <a:off x="320040" y="3685032"/>
            <a:ext cx="137160" cy="137160"/>
          </a:xfrm>
          <a:prstGeom prst="ellipse">
            <a:avLst/>
          </a:prstGeom>
          <a:solidFill>
            <a:srgbClr val="8899AA"/>
          </a:solidFill>
          <a:ln w="12700">
            <a:solidFill>
              <a:srgbClr val="8899AA"/>
            </a:solidFill>
            <a:prstDash val="solid"/>
          </a:ln>
        </p:spPr>
        <p:txBody>
          <a:bodyPr/>
          <a:lstStyle/>
          <a:p>
            <a:endParaRPr lang="en-US"/>
          </a:p>
        </p:txBody>
      </p:sp>
      <p:sp>
        <p:nvSpPr>
          <p:cNvPr id="29" name="Text 27"/>
          <p:cNvSpPr/>
          <p:nvPr/>
        </p:nvSpPr>
        <p:spPr>
          <a:xfrm>
            <a:off x="530352" y="3630168"/>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combineGRN.jl       — combineGRNs</a:t>
            </a:r>
            <a:endParaRPr lang="en-US" sz="950" dirty="0"/>
          </a:p>
        </p:txBody>
      </p:sp>
      <p:sp>
        <p:nvSpPr>
          <p:cNvPr id="30" name="Shape 28"/>
          <p:cNvSpPr/>
          <p:nvPr/>
        </p:nvSpPr>
        <p:spPr>
          <a:xfrm>
            <a:off x="274320" y="3941064"/>
            <a:ext cx="4160520" cy="310896"/>
          </a:xfrm>
          <a:prstGeom prst="rect">
            <a:avLst/>
          </a:prstGeom>
          <a:solidFill>
            <a:srgbClr val="FFFFFF"/>
          </a:solidFill>
          <a:ln w="6350">
            <a:solidFill>
              <a:srgbClr val="D0DDE8"/>
            </a:solidFill>
            <a:prstDash val="solid"/>
          </a:ln>
        </p:spPr>
        <p:txBody>
          <a:bodyPr/>
          <a:lstStyle/>
          <a:p>
            <a:endParaRPr lang="en-US"/>
          </a:p>
        </p:txBody>
      </p:sp>
      <p:sp>
        <p:nvSpPr>
          <p:cNvPr id="31" name="Shape 29"/>
          <p:cNvSpPr/>
          <p:nvPr/>
        </p:nvSpPr>
        <p:spPr>
          <a:xfrm>
            <a:off x="320040" y="4023360"/>
            <a:ext cx="137160" cy="137160"/>
          </a:xfrm>
          <a:prstGeom prst="ellipse">
            <a:avLst/>
          </a:prstGeom>
          <a:solidFill>
            <a:srgbClr val="8899AA"/>
          </a:solidFill>
          <a:ln w="12700">
            <a:solidFill>
              <a:srgbClr val="8899AA"/>
            </a:solidFill>
            <a:prstDash val="solid"/>
          </a:ln>
        </p:spPr>
        <p:txBody>
          <a:bodyPr/>
          <a:lstStyle/>
          <a:p>
            <a:endParaRPr lang="en-US"/>
          </a:p>
        </p:txBody>
      </p:sp>
      <p:sp>
        <p:nvSpPr>
          <p:cNvPr id="32" name="Text 30"/>
          <p:cNvSpPr/>
          <p:nvPr/>
        </p:nvSpPr>
        <p:spPr>
          <a:xfrm>
            <a:off x="530352" y="3968496"/>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combineGRN2.jl      — combineGRNS2</a:t>
            </a:r>
            <a:endParaRPr lang="en-US" sz="950" dirty="0"/>
          </a:p>
        </p:txBody>
      </p:sp>
      <p:sp>
        <p:nvSpPr>
          <p:cNvPr id="33" name="Shape 31"/>
          <p:cNvSpPr/>
          <p:nvPr/>
        </p:nvSpPr>
        <p:spPr>
          <a:xfrm>
            <a:off x="274320" y="4279392"/>
            <a:ext cx="4160520" cy="310896"/>
          </a:xfrm>
          <a:prstGeom prst="rect">
            <a:avLst/>
          </a:prstGeom>
          <a:solidFill>
            <a:srgbClr val="EEF4F8"/>
          </a:solidFill>
          <a:ln w="6350">
            <a:solidFill>
              <a:srgbClr val="D0DDE8"/>
            </a:solidFill>
            <a:prstDash val="solid"/>
          </a:ln>
        </p:spPr>
        <p:txBody>
          <a:bodyPr/>
          <a:lstStyle/>
          <a:p>
            <a:endParaRPr lang="en-US"/>
          </a:p>
        </p:txBody>
      </p:sp>
      <p:sp>
        <p:nvSpPr>
          <p:cNvPr id="34" name="Shape 32"/>
          <p:cNvSpPr/>
          <p:nvPr/>
        </p:nvSpPr>
        <p:spPr>
          <a:xfrm>
            <a:off x="320040" y="4361688"/>
            <a:ext cx="137160" cy="137160"/>
          </a:xfrm>
          <a:prstGeom prst="ellipse">
            <a:avLst/>
          </a:prstGeom>
          <a:solidFill>
            <a:srgbClr val="8899AA"/>
          </a:solidFill>
          <a:ln w="12700">
            <a:solidFill>
              <a:srgbClr val="8899AA"/>
            </a:solidFill>
            <a:prstDash val="solid"/>
          </a:ln>
        </p:spPr>
        <p:txBody>
          <a:bodyPr/>
          <a:lstStyle/>
          <a:p>
            <a:endParaRPr lang="en-US"/>
          </a:p>
        </p:txBody>
      </p:sp>
      <p:sp>
        <p:nvSpPr>
          <p:cNvPr id="35" name="Text 33"/>
          <p:cNvSpPr/>
          <p:nvPr/>
        </p:nvSpPr>
        <p:spPr>
          <a:xfrm>
            <a:off x="530352" y="4306824"/>
            <a:ext cx="3840480" cy="256032"/>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Metric.jl / calcPRinfTRNs.jl — evaluation</a:t>
            </a:r>
            <a:endParaRPr lang="en-US" sz="950" dirty="0"/>
          </a:p>
        </p:txBody>
      </p:sp>
      <p:sp>
        <p:nvSpPr>
          <p:cNvPr id="36" name="Shape 34"/>
          <p:cNvSpPr/>
          <p:nvPr/>
        </p:nvSpPr>
        <p:spPr>
          <a:xfrm>
            <a:off x="4709160" y="804672"/>
            <a:ext cx="4160520" cy="365760"/>
          </a:xfrm>
          <a:prstGeom prst="rect">
            <a:avLst/>
          </a:prstGeom>
          <a:solidFill>
            <a:srgbClr val="00A896"/>
          </a:solidFill>
          <a:ln w="12700">
            <a:solidFill>
              <a:srgbClr val="00A896"/>
            </a:solidFill>
            <a:prstDash val="solid"/>
          </a:ln>
        </p:spPr>
        <p:txBody>
          <a:bodyPr/>
          <a:lstStyle/>
          <a:p>
            <a:endParaRPr lang="en-US"/>
          </a:p>
        </p:txBody>
      </p:sp>
      <p:sp>
        <p:nvSpPr>
          <p:cNvPr id="37" name="Text 35"/>
          <p:cNvSpPr/>
          <p:nvPr/>
        </p:nvSpPr>
        <p:spPr>
          <a:xfrm>
            <a:off x="4754880" y="822960"/>
            <a:ext cx="40690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NEW FILES</a:t>
            </a:r>
            <a:endParaRPr lang="en-US" sz="1200" dirty="0"/>
          </a:p>
        </p:txBody>
      </p:sp>
      <p:sp>
        <p:nvSpPr>
          <p:cNvPr id="38" name="Shape 36"/>
          <p:cNvSpPr/>
          <p:nvPr/>
        </p:nvSpPr>
        <p:spPr>
          <a:xfrm>
            <a:off x="4709160" y="1234440"/>
            <a:ext cx="4160520" cy="521208"/>
          </a:xfrm>
          <a:prstGeom prst="rect">
            <a:avLst/>
          </a:prstGeom>
          <a:solidFill>
            <a:srgbClr val="FFFFFF"/>
          </a:solidFill>
          <a:ln w="6350">
            <a:solidFill>
              <a:srgbClr val="D0DDE8"/>
            </a:solidFill>
            <a:prstDash val="solid"/>
          </a:ln>
        </p:spPr>
        <p:txBody>
          <a:bodyPr/>
          <a:lstStyle/>
          <a:p>
            <a:endParaRPr lang="en-US"/>
          </a:p>
        </p:txBody>
      </p:sp>
      <p:sp>
        <p:nvSpPr>
          <p:cNvPr id="39" name="Shape 37"/>
          <p:cNvSpPr/>
          <p:nvPr/>
        </p:nvSpPr>
        <p:spPr>
          <a:xfrm>
            <a:off x="4709160" y="1234440"/>
            <a:ext cx="91440" cy="521208"/>
          </a:xfrm>
          <a:prstGeom prst="rect">
            <a:avLst/>
          </a:prstGeom>
          <a:solidFill>
            <a:srgbClr val="00A896"/>
          </a:solidFill>
          <a:ln w="12700">
            <a:solidFill>
              <a:srgbClr val="00A896"/>
            </a:solidFill>
            <a:prstDash val="solid"/>
          </a:ln>
        </p:spPr>
        <p:txBody>
          <a:bodyPr/>
          <a:lstStyle/>
          <a:p>
            <a:endParaRPr lang="en-US"/>
          </a:p>
        </p:txBody>
      </p:sp>
      <p:sp>
        <p:nvSpPr>
          <p:cNvPr id="40" name="Text 38"/>
          <p:cNvSpPr/>
          <p:nvPr/>
        </p:nvSpPr>
        <p:spPr>
          <a:xfrm>
            <a:off x="4864608" y="1271016"/>
            <a:ext cx="3886200" cy="448056"/>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multitaskData.jl      — MultitaskExpressionData, MultitaskGrnData, MultitaskBuildGrn</a:t>
            </a:r>
            <a:endParaRPr lang="en-US" sz="950" dirty="0"/>
          </a:p>
        </p:txBody>
      </p:sp>
      <p:sp>
        <p:nvSpPr>
          <p:cNvPr id="41" name="Shape 39"/>
          <p:cNvSpPr/>
          <p:nvPr/>
        </p:nvSpPr>
        <p:spPr>
          <a:xfrm>
            <a:off x="4709160" y="1801368"/>
            <a:ext cx="4160520" cy="521208"/>
          </a:xfrm>
          <a:prstGeom prst="rect">
            <a:avLst/>
          </a:prstGeom>
          <a:solidFill>
            <a:srgbClr val="EEF4F8"/>
          </a:solidFill>
          <a:ln w="6350">
            <a:solidFill>
              <a:srgbClr val="D0DDE8"/>
            </a:solidFill>
            <a:prstDash val="solid"/>
          </a:ln>
        </p:spPr>
        <p:txBody>
          <a:bodyPr/>
          <a:lstStyle/>
          <a:p>
            <a:endParaRPr lang="en-US"/>
          </a:p>
        </p:txBody>
      </p:sp>
      <p:sp>
        <p:nvSpPr>
          <p:cNvPr id="42" name="Shape 40"/>
          <p:cNvSpPr/>
          <p:nvPr/>
        </p:nvSpPr>
        <p:spPr>
          <a:xfrm>
            <a:off x="4709160" y="1801368"/>
            <a:ext cx="91440" cy="521208"/>
          </a:xfrm>
          <a:prstGeom prst="rect">
            <a:avLst/>
          </a:prstGeom>
          <a:solidFill>
            <a:srgbClr val="00A896"/>
          </a:solidFill>
          <a:ln w="12700">
            <a:solidFill>
              <a:srgbClr val="00A896"/>
            </a:solidFill>
            <a:prstDash val="solid"/>
          </a:ln>
        </p:spPr>
        <p:txBody>
          <a:bodyPr/>
          <a:lstStyle/>
          <a:p>
            <a:endParaRPr lang="en-US"/>
          </a:p>
        </p:txBody>
      </p:sp>
      <p:sp>
        <p:nvSpPr>
          <p:cNvPr id="43" name="Text 41"/>
          <p:cNvSpPr/>
          <p:nvPr/>
        </p:nvSpPr>
        <p:spPr>
          <a:xfrm>
            <a:off x="4864608" y="1837944"/>
            <a:ext cx="3886200" cy="448056"/>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taskSimilarity.jl     — buildSimilarityFrom{Metadata,Expression,Ontology}</a:t>
            </a:r>
            <a:endParaRPr lang="en-US" sz="950" dirty="0"/>
          </a:p>
        </p:txBody>
      </p:sp>
      <p:sp>
        <p:nvSpPr>
          <p:cNvPr id="44" name="Shape 42"/>
          <p:cNvSpPr/>
          <p:nvPr/>
        </p:nvSpPr>
        <p:spPr>
          <a:xfrm>
            <a:off x="4709160" y="2368296"/>
            <a:ext cx="4160520" cy="521208"/>
          </a:xfrm>
          <a:prstGeom prst="rect">
            <a:avLst/>
          </a:prstGeom>
          <a:solidFill>
            <a:srgbClr val="FFFFFF"/>
          </a:solidFill>
          <a:ln w="6350">
            <a:solidFill>
              <a:srgbClr val="D0DDE8"/>
            </a:solidFill>
            <a:prstDash val="solid"/>
          </a:ln>
        </p:spPr>
        <p:txBody>
          <a:bodyPr/>
          <a:lstStyle/>
          <a:p>
            <a:endParaRPr lang="en-US"/>
          </a:p>
        </p:txBody>
      </p:sp>
      <p:sp>
        <p:nvSpPr>
          <p:cNvPr id="45" name="Shape 43"/>
          <p:cNvSpPr/>
          <p:nvPr/>
        </p:nvSpPr>
        <p:spPr>
          <a:xfrm>
            <a:off x="4709160" y="2368296"/>
            <a:ext cx="91440" cy="521208"/>
          </a:xfrm>
          <a:prstGeom prst="rect">
            <a:avLst/>
          </a:prstGeom>
          <a:solidFill>
            <a:srgbClr val="00A896"/>
          </a:solidFill>
          <a:ln w="12700">
            <a:solidFill>
              <a:srgbClr val="00A896"/>
            </a:solidFill>
            <a:prstDash val="solid"/>
          </a:ln>
        </p:spPr>
        <p:txBody>
          <a:bodyPr/>
          <a:lstStyle/>
          <a:p>
            <a:endParaRPr lang="en-US"/>
          </a:p>
        </p:txBody>
      </p:sp>
      <p:sp>
        <p:nvSpPr>
          <p:cNvPr id="46" name="Text 44"/>
          <p:cNvSpPr/>
          <p:nvPr/>
        </p:nvSpPr>
        <p:spPr>
          <a:xfrm>
            <a:off x="4864608" y="2404872"/>
            <a:ext cx="3886200" cy="448056"/>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admm.jl               — admm_fused_lasso, admmWarmStart</a:t>
            </a:r>
            <a:endParaRPr lang="en-US" sz="950" dirty="0"/>
          </a:p>
        </p:txBody>
      </p:sp>
      <p:sp>
        <p:nvSpPr>
          <p:cNvPr id="47" name="Shape 45"/>
          <p:cNvSpPr/>
          <p:nvPr/>
        </p:nvSpPr>
        <p:spPr>
          <a:xfrm>
            <a:off x="4709160" y="2935224"/>
            <a:ext cx="4160520" cy="521208"/>
          </a:xfrm>
          <a:prstGeom prst="rect">
            <a:avLst/>
          </a:prstGeom>
          <a:solidFill>
            <a:srgbClr val="EEF4F8"/>
          </a:solidFill>
          <a:ln w="6350">
            <a:solidFill>
              <a:srgbClr val="D0DDE8"/>
            </a:solidFill>
            <a:prstDash val="solid"/>
          </a:ln>
        </p:spPr>
        <p:txBody>
          <a:bodyPr/>
          <a:lstStyle/>
          <a:p>
            <a:endParaRPr lang="en-US"/>
          </a:p>
        </p:txBody>
      </p:sp>
      <p:sp>
        <p:nvSpPr>
          <p:cNvPr id="48" name="Shape 46"/>
          <p:cNvSpPr/>
          <p:nvPr/>
        </p:nvSpPr>
        <p:spPr>
          <a:xfrm>
            <a:off x="4709160" y="2935224"/>
            <a:ext cx="91440" cy="521208"/>
          </a:xfrm>
          <a:prstGeom prst="rect">
            <a:avLst/>
          </a:prstGeom>
          <a:solidFill>
            <a:srgbClr val="00A896"/>
          </a:solidFill>
          <a:ln w="12700">
            <a:solidFill>
              <a:srgbClr val="00A896"/>
            </a:solidFill>
            <a:prstDash val="solid"/>
          </a:ln>
        </p:spPr>
        <p:txBody>
          <a:bodyPr/>
          <a:lstStyle/>
          <a:p>
            <a:endParaRPr lang="en-US"/>
          </a:p>
        </p:txBody>
      </p:sp>
      <p:sp>
        <p:nvSpPr>
          <p:cNvPr id="49" name="Text 47"/>
          <p:cNvSpPr/>
          <p:nvPr/>
        </p:nvSpPr>
        <p:spPr>
          <a:xfrm>
            <a:off x="4864608" y="2971800"/>
            <a:ext cx="3886200" cy="448056"/>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prepareMultitask.jl   — splitByTask!, calculateTFAPerTask!, MT prepare loops</a:t>
            </a:r>
            <a:endParaRPr lang="en-US" sz="950" dirty="0"/>
          </a:p>
        </p:txBody>
      </p:sp>
      <p:sp>
        <p:nvSpPr>
          <p:cNvPr id="50" name="Shape 48"/>
          <p:cNvSpPr/>
          <p:nvPr/>
        </p:nvSpPr>
        <p:spPr>
          <a:xfrm>
            <a:off x="4709160" y="3502152"/>
            <a:ext cx="4160520" cy="521208"/>
          </a:xfrm>
          <a:prstGeom prst="rect">
            <a:avLst/>
          </a:prstGeom>
          <a:solidFill>
            <a:srgbClr val="FFFFFF"/>
          </a:solidFill>
          <a:ln w="6350">
            <a:solidFill>
              <a:srgbClr val="D0DDE8"/>
            </a:solidFill>
            <a:prstDash val="solid"/>
          </a:ln>
        </p:spPr>
        <p:txBody>
          <a:bodyPr/>
          <a:lstStyle/>
          <a:p>
            <a:endParaRPr lang="en-US"/>
          </a:p>
        </p:txBody>
      </p:sp>
      <p:sp>
        <p:nvSpPr>
          <p:cNvPr id="51" name="Shape 49"/>
          <p:cNvSpPr/>
          <p:nvPr/>
        </p:nvSpPr>
        <p:spPr>
          <a:xfrm>
            <a:off x="4709160" y="3502152"/>
            <a:ext cx="91440" cy="521208"/>
          </a:xfrm>
          <a:prstGeom prst="rect">
            <a:avLst/>
          </a:prstGeom>
          <a:solidFill>
            <a:srgbClr val="00A896"/>
          </a:solidFill>
          <a:ln w="12700">
            <a:solidFill>
              <a:srgbClr val="00A896"/>
            </a:solidFill>
            <a:prstDash val="solid"/>
          </a:ln>
        </p:spPr>
        <p:txBody>
          <a:bodyPr/>
          <a:lstStyle/>
          <a:p>
            <a:endParaRPr lang="en-US"/>
          </a:p>
        </p:txBody>
      </p:sp>
      <p:sp>
        <p:nvSpPr>
          <p:cNvPr id="52" name="Text 50"/>
          <p:cNvSpPr/>
          <p:nvPr/>
        </p:nvSpPr>
        <p:spPr>
          <a:xfrm>
            <a:off x="4864608" y="3538728"/>
            <a:ext cx="3886200" cy="448056"/>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buildMultitask.jl     — chooseLambdaMT!, rankEdgesMT!, buildConsensus!</a:t>
            </a:r>
            <a:endParaRPr lang="en-US" sz="950" dirty="0"/>
          </a:p>
        </p:txBody>
      </p:sp>
      <p:sp>
        <p:nvSpPr>
          <p:cNvPr id="53" name="Shape 51"/>
          <p:cNvSpPr/>
          <p:nvPr/>
        </p:nvSpPr>
        <p:spPr>
          <a:xfrm>
            <a:off x="4709160" y="4069080"/>
            <a:ext cx="4160520" cy="521208"/>
          </a:xfrm>
          <a:prstGeom prst="rect">
            <a:avLst/>
          </a:prstGeom>
          <a:solidFill>
            <a:srgbClr val="EEF4F8"/>
          </a:solidFill>
          <a:ln w="6350">
            <a:solidFill>
              <a:srgbClr val="D0DDE8"/>
            </a:solidFill>
            <a:prstDash val="solid"/>
          </a:ln>
        </p:spPr>
        <p:txBody>
          <a:bodyPr/>
          <a:lstStyle/>
          <a:p>
            <a:endParaRPr lang="en-US"/>
          </a:p>
        </p:txBody>
      </p:sp>
      <p:sp>
        <p:nvSpPr>
          <p:cNvPr id="54" name="Shape 52"/>
          <p:cNvSpPr/>
          <p:nvPr/>
        </p:nvSpPr>
        <p:spPr>
          <a:xfrm>
            <a:off x="4709160" y="4069080"/>
            <a:ext cx="91440" cy="521208"/>
          </a:xfrm>
          <a:prstGeom prst="rect">
            <a:avLst/>
          </a:prstGeom>
          <a:solidFill>
            <a:srgbClr val="00A896"/>
          </a:solidFill>
          <a:ln w="12700">
            <a:solidFill>
              <a:srgbClr val="00A896"/>
            </a:solidFill>
            <a:prstDash val="solid"/>
          </a:ln>
        </p:spPr>
        <p:txBody>
          <a:bodyPr/>
          <a:lstStyle/>
          <a:p>
            <a:endParaRPr lang="en-US"/>
          </a:p>
        </p:txBody>
      </p:sp>
      <p:sp>
        <p:nvSpPr>
          <p:cNvPr id="55" name="Text 53"/>
          <p:cNvSpPr/>
          <p:nvPr/>
        </p:nvSpPr>
        <p:spPr>
          <a:xfrm>
            <a:off x="4864608" y="4105656"/>
            <a:ext cx="3886200" cy="448056"/>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main.jl               — runMultitaskInferelator()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76F51"/>
          </a:solidFill>
          <a:ln w="12700">
            <a:solidFill>
              <a:srgbClr val="E76F51"/>
            </a:solidFill>
            <a:prstDash val="solid"/>
          </a:ln>
        </p:spPr>
        <p:txBody>
          <a:bodyPr/>
          <a:lstStyle/>
          <a:p>
            <a:endParaRPr lang="en-US"/>
          </a:p>
        </p:txBody>
      </p:sp>
      <p:sp>
        <p:nvSpPr>
          <p:cNvPr id="3" name="Text 1"/>
          <p:cNvSpPr/>
          <p:nvPr/>
        </p:nvSpPr>
        <p:spPr>
          <a:xfrm>
            <a:off x="274320" y="45720"/>
            <a:ext cx="859536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Caveats &amp; What to Watch Out For</a:t>
            </a:r>
            <a:endParaRPr lang="en-US" sz="2000" dirty="0"/>
          </a:p>
        </p:txBody>
      </p:sp>
      <p:sp>
        <p:nvSpPr>
          <p:cNvPr id="4" name="Shape 2"/>
          <p:cNvSpPr/>
          <p:nvPr/>
        </p:nvSpPr>
        <p:spPr>
          <a:xfrm>
            <a:off x="274320" y="868680"/>
            <a:ext cx="4160520" cy="1828800"/>
          </a:xfrm>
          <a:prstGeom prst="rect">
            <a:avLst/>
          </a:prstGeom>
          <a:solidFill>
            <a:srgbClr val="FFFFFF"/>
          </a:solidFill>
          <a:ln w="25400">
            <a:solidFill>
              <a:srgbClr val="E76F51"/>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868680"/>
            <a:ext cx="109728" cy="1828800"/>
          </a:xfrm>
          <a:prstGeom prst="rect">
            <a:avLst/>
          </a:prstGeom>
          <a:solidFill>
            <a:srgbClr val="E76F51"/>
          </a:solidFill>
          <a:ln w="12700">
            <a:solidFill>
              <a:srgbClr val="E76F51"/>
            </a:solidFill>
            <a:prstDash val="solid"/>
          </a:ln>
        </p:spPr>
        <p:txBody>
          <a:bodyPr/>
          <a:lstStyle/>
          <a:p>
            <a:endParaRPr lang="en-US"/>
          </a:p>
        </p:txBody>
      </p:sp>
      <p:sp>
        <p:nvSpPr>
          <p:cNvPr id="6" name="Text 4"/>
          <p:cNvSpPr/>
          <p:nvPr/>
        </p:nvSpPr>
        <p:spPr>
          <a:xfrm>
            <a:off x="475488" y="960120"/>
            <a:ext cx="3840480" cy="347472"/>
          </a:xfrm>
          <a:prstGeom prst="rect">
            <a:avLst/>
          </a:prstGeom>
          <a:noFill/>
          <a:ln/>
        </p:spPr>
        <p:txBody>
          <a:bodyPr wrap="square" rtlCol="0" anchor="ctr"/>
          <a:lstStyle/>
          <a:p>
            <a:pPr marL="0" indent="0">
              <a:buNone/>
            </a:pPr>
            <a:r>
              <a:rPr lang="en-US" sz="1200" b="1" dirty="0">
                <a:solidFill>
                  <a:srgbClr val="E76F51"/>
                </a:solidFill>
                <a:latin typeface="Calibri" pitchFamily="34" charset="0"/>
                <a:ea typeface="Calibri" pitchFamily="34" charset="-122"/>
                <a:cs typeface="Calibri" pitchFamily="34" charset="-120"/>
              </a:rPr>
              <a:t>Per-task sample size</a:t>
            </a:r>
            <a:endParaRPr lang="en-US" sz="1200" dirty="0"/>
          </a:p>
        </p:txBody>
      </p:sp>
      <p:sp>
        <p:nvSpPr>
          <p:cNvPr id="7" name="Text 5"/>
          <p:cNvSpPr/>
          <p:nvPr/>
        </p:nvSpPr>
        <p:spPr>
          <a:xfrm>
            <a:off x="475488" y="1344168"/>
            <a:ext cx="3840480" cy="123444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Splitting by cell type reduces samples per task. LASSO with hundreds of TF predictors on 10–20 pseudobulk samples is aggressive. The fusion penalty helps regularize but validate on simulated data first.</a:t>
            </a:r>
            <a:endParaRPr lang="en-US" sz="1100" dirty="0"/>
          </a:p>
        </p:txBody>
      </p:sp>
      <p:sp>
        <p:nvSpPr>
          <p:cNvPr id="8" name="Shape 6"/>
          <p:cNvSpPr/>
          <p:nvPr/>
        </p:nvSpPr>
        <p:spPr>
          <a:xfrm>
            <a:off x="4709160" y="868680"/>
            <a:ext cx="4160520" cy="1828800"/>
          </a:xfrm>
          <a:prstGeom prst="rect">
            <a:avLst/>
          </a:prstGeom>
          <a:solidFill>
            <a:srgbClr val="FFFFFF"/>
          </a:solidFill>
          <a:ln w="2540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868680"/>
            <a:ext cx="109728" cy="1828800"/>
          </a:xfrm>
          <a:prstGeom prst="rect">
            <a:avLst/>
          </a:prstGeom>
          <a:solidFill>
            <a:srgbClr val="F4A261"/>
          </a:solidFill>
          <a:ln w="12700">
            <a:solidFill>
              <a:srgbClr val="F4A261"/>
            </a:solidFill>
            <a:prstDash val="solid"/>
          </a:ln>
        </p:spPr>
        <p:txBody>
          <a:bodyPr/>
          <a:lstStyle/>
          <a:p>
            <a:endParaRPr lang="en-US"/>
          </a:p>
        </p:txBody>
      </p:sp>
      <p:sp>
        <p:nvSpPr>
          <p:cNvPr id="10" name="Text 8"/>
          <p:cNvSpPr/>
          <p:nvPr/>
        </p:nvSpPr>
        <p:spPr>
          <a:xfrm>
            <a:off x="4910328" y="960120"/>
            <a:ext cx="3840480" cy="347472"/>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Circular similarity</a:t>
            </a:r>
            <a:endParaRPr lang="en-US" sz="1200" dirty="0"/>
          </a:p>
        </p:txBody>
      </p:sp>
      <p:sp>
        <p:nvSpPr>
          <p:cNvPr id="11" name="Text 9"/>
          <p:cNvSpPr/>
          <p:nvPr/>
        </p:nvSpPr>
        <p:spPr>
          <a:xfrm>
            <a:off x="4910328" y="1344168"/>
            <a:ext cx="3840480" cy="123444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Using expression data to build the task graph AND to fit the model is circular. Prefer metadata or ontology sources. If expression must be used, restrict to held-out housekeeping genes.</a:t>
            </a:r>
            <a:endParaRPr lang="en-US" sz="1100" dirty="0"/>
          </a:p>
        </p:txBody>
      </p:sp>
      <p:sp>
        <p:nvSpPr>
          <p:cNvPr id="12" name="Shape 10"/>
          <p:cNvSpPr/>
          <p:nvPr/>
        </p:nvSpPr>
        <p:spPr>
          <a:xfrm>
            <a:off x="274320" y="2880360"/>
            <a:ext cx="4160520" cy="1828800"/>
          </a:xfrm>
          <a:prstGeom prst="rect">
            <a:avLst/>
          </a:prstGeom>
          <a:solidFill>
            <a:srgbClr val="FFFFFF"/>
          </a:solidFill>
          <a:ln w="25400">
            <a:solidFill>
              <a:srgbClr val="00A896"/>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880360"/>
            <a:ext cx="109728" cy="182880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475488" y="2971800"/>
            <a:ext cx="3840480" cy="347472"/>
          </a:xfrm>
          <a:prstGeom prst="rect">
            <a:avLst/>
          </a:prstGeom>
          <a:noFill/>
          <a:ln/>
        </p:spPr>
        <p:txBody>
          <a:bodyPr wrap="square"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Two lambda parameters</a:t>
            </a:r>
            <a:endParaRPr lang="en-US" sz="1200" dirty="0"/>
          </a:p>
        </p:txBody>
      </p:sp>
      <p:sp>
        <p:nvSpPr>
          <p:cNvPr id="15" name="Text 13"/>
          <p:cNvSpPr/>
          <p:nvPr/>
        </p:nvSpPr>
        <p:spPr>
          <a:xfrm>
            <a:off x="475488" y="3355848"/>
            <a:ext cx="3840480" cy="123444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λ_s and λ_f must be tuned jointly. bStARS instability can guide λ_s but λ_f has no principled selection criterion yet. Start with λ_f = 0.1 and validate on gold standard.</a:t>
            </a:r>
            <a:endParaRPr lang="en-US" sz="1100" dirty="0"/>
          </a:p>
        </p:txBody>
      </p:sp>
      <p:sp>
        <p:nvSpPr>
          <p:cNvPr id="16" name="Shape 14"/>
          <p:cNvSpPr/>
          <p:nvPr/>
        </p:nvSpPr>
        <p:spPr>
          <a:xfrm>
            <a:off x="4709160" y="2880360"/>
            <a:ext cx="4160520" cy="1828800"/>
          </a:xfrm>
          <a:prstGeom prst="rect">
            <a:avLst/>
          </a:prstGeom>
          <a:solidFill>
            <a:srgbClr val="FFFFFF"/>
          </a:solidFill>
          <a:ln w="25400">
            <a:solidFill>
              <a:srgbClr val="8899AA"/>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880360"/>
            <a:ext cx="109728" cy="1828800"/>
          </a:xfrm>
          <a:prstGeom prst="rect">
            <a:avLst/>
          </a:prstGeom>
          <a:solidFill>
            <a:srgbClr val="8899AA"/>
          </a:solidFill>
          <a:ln w="12700">
            <a:solidFill>
              <a:srgbClr val="8899AA"/>
            </a:solidFill>
            <a:prstDash val="solid"/>
          </a:ln>
        </p:spPr>
        <p:txBody>
          <a:bodyPr/>
          <a:lstStyle/>
          <a:p>
            <a:endParaRPr lang="en-US"/>
          </a:p>
        </p:txBody>
      </p:sp>
      <p:sp>
        <p:nvSpPr>
          <p:cNvPr id="18" name="Text 16"/>
          <p:cNvSpPr/>
          <p:nvPr/>
        </p:nvSpPr>
        <p:spPr>
          <a:xfrm>
            <a:off x="4910328" y="2971800"/>
            <a:ext cx="3840480" cy="347472"/>
          </a:xfrm>
          <a:prstGeom prst="rect">
            <a:avLst/>
          </a:prstGeom>
          <a:noFill/>
          <a:ln/>
        </p:spPr>
        <p:txBody>
          <a:bodyPr wrap="square" rtlCol="0" anchor="ctr"/>
          <a:lstStyle/>
          <a:p>
            <a:pPr marL="0" indent="0">
              <a:buNone/>
            </a:pPr>
            <a:r>
              <a:rPr lang="en-US" sz="1200" b="1" dirty="0">
                <a:solidFill>
                  <a:srgbClr val="8899AA"/>
                </a:solidFill>
                <a:latin typeface="Calibri" pitchFamily="34" charset="0"/>
                <a:ea typeface="Calibri" pitchFamily="34" charset="-122"/>
                <a:cs typeface="Calibri" pitchFamily="34" charset="-120"/>
              </a:rPr>
              <a:t>ADMM convergence cost</a:t>
            </a:r>
            <a:endParaRPr lang="en-US" sz="1200" dirty="0"/>
          </a:p>
        </p:txBody>
      </p:sp>
      <p:sp>
        <p:nvSpPr>
          <p:cNvPr id="19" name="Text 17"/>
          <p:cNvSpPr/>
          <p:nvPr/>
        </p:nvSpPr>
        <p:spPr>
          <a:xfrm>
            <a:off x="4910328" y="3355848"/>
            <a:ext cx="3840480" cy="123444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ADMM runs inside the bStARS subsample loop — O(totSS × totGenes × ADMM_iters) total. With 80 subsamples and 40 lambdas this is significantly more expensive than the original GLMNet calls.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txBody>
          <a:bodyPr/>
          <a:lstStyle/>
          <a:p>
            <a:endParaRPr lang="en-US"/>
          </a:p>
        </p:txBody>
      </p:sp>
      <p:sp>
        <p:nvSpPr>
          <p:cNvPr id="3" name="Text 1"/>
          <p:cNvSpPr/>
          <p:nvPr/>
        </p:nvSpPr>
        <p:spPr>
          <a:xfrm>
            <a:off x="411480" y="365760"/>
            <a:ext cx="832104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Summary</a:t>
            </a:r>
            <a:endParaRPr lang="en-US" sz="3000" dirty="0"/>
          </a:p>
        </p:txBody>
      </p:sp>
      <p:sp>
        <p:nvSpPr>
          <p:cNvPr id="4" name="Shape 2"/>
          <p:cNvSpPr/>
          <p:nvPr/>
        </p:nvSpPr>
        <p:spPr>
          <a:xfrm>
            <a:off x="411480" y="1298448"/>
            <a:ext cx="320040" cy="320040"/>
          </a:xfrm>
          <a:prstGeom prst="rect">
            <a:avLst/>
          </a:prstGeom>
          <a:solidFill>
            <a:srgbClr val="E76F51">
              <a:alpha val="70000"/>
            </a:srgbClr>
          </a:solidFill>
          <a:ln w="12700">
            <a:solidFill>
              <a:srgbClr val="E76F51"/>
            </a:solidFill>
            <a:prstDash val="solid"/>
          </a:ln>
        </p:spPr>
        <p:txBody>
          <a:bodyPr/>
          <a:lstStyle/>
          <a:p>
            <a:endParaRPr lang="en-US"/>
          </a:p>
        </p:txBody>
      </p:sp>
      <p:sp>
        <p:nvSpPr>
          <p:cNvPr id="5" name="Text 3"/>
          <p:cNvSpPr/>
          <p:nvPr/>
        </p:nvSpPr>
        <p:spPr>
          <a:xfrm>
            <a:off x="438912" y="1280160"/>
            <a:ext cx="274320" cy="347472"/>
          </a:xfrm>
          <a:prstGeom prst="rect">
            <a:avLst/>
          </a:prstGeom>
          <a:noFill/>
          <a:ln/>
        </p:spPr>
        <p:txBody>
          <a:bodyPr wrap="square" rtlCol="0" anchor="ctr"/>
          <a:lstStyle/>
          <a:p>
            <a:pPr marL="0" indent="0" algn="ctr">
              <a:buNone/>
            </a:pPr>
            <a:r>
              <a:rPr lang="en-US" sz="1300" b="1" dirty="0">
                <a:solidFill>
                  <a:srgbClr val="E76F51"/>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841248" y="1188720"/>
            <a:ext cx="78638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Castro couples tasks symmetrically — all pairs treated as equally similar</a:t>
            </a:r>
            <a:endParaRPr lang="en-US" sz="1300" dirty="0"/>
          </a:p>
        </p:txBody>
      </p:sp>
      <p:sp>
        <p:nvSpPr>
          <p:cNvPr id="7" name="Shape 5"/>
          <p:cNvSpPr/>
          <p:nvPr/>
        </p:nvSpPr>
        <p:spPr>
          <a:xfrm>
            <a:off x="411480" y="1911096"/>
            <a:ext cx="320040" cy="320040"/>
          </a:xfrm>
          <a:prstGeom prst="rect">
            <a:avLst/>
          </a:prstGeom>
          <a:solidFill>
            <a:srgbClr val="00A896">
              <a:alpha val="70000"/>
            </a:srgbClr>
          </a:solidFill>
          <a:ln w="12700">
            <a:solidFill>
              <a:srgbClr val="00A896"/>
            </a:solidFill>
            <a:prstDash val="solid"/>
          </a:ln>
        </p:spPr>
        <p:txBody>
          <a:bodyPr/>
          <a:lstStyle/>
          <a:p>
            <a:endParaRPr lang="en-US"/>
          </a:p>
        </p:txBody>
      </p:sp>
      <p:sp>
        <p:nvSpPr>
          <p:cNvPr id="8" name="Text 6"/>
          <p:cNvSpPr/>
          <p:nvPr/>
        </p:nvSpPr>
        <p:spPr>
          <a:xfrm>
            <a:off x="438912" y="1892808"/>
            <a:ext cx="274320" cy="347472"/>
          </a:xfrm>
          <a:prstGeom prst="rect">
            <a:avLst/>
          </a:prstGeom>
          <a:noFill/>
          <a:ln/>
        </p:spPr>
        <p:txBody>
          <a:bodyPr wrap="square" rtlCol="0" anchor="ctr"/>
          <a:lstStyle/>
          <a:p>
            <a:pPr marL="0" indent="0" algn="ctr">
              <a:buNone/>
            </a:pPr>
            <a:r>
              <a:rPr lang="en-US" sz="1300" b="1" dirty="0">
                <a:solidFill>
                  <a:srgbClr val="00A896"/>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841248" y="1801368"/>
            <a:ext cx="78638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Graph-fused multitask LASSO couples tasks proportional to biological similarity</a:t>
            </a:r>
            <a:endParaRPr lang="en-US" sz="1300" dirty="0"/>
          </a:p>
        </p:txBody>
      </p:sp>
      <p:sp>
        <p:nvSpPr>
          <p:cNvPr id="10" name="Shape 8"/>
          <p:cNvSpPr/>
          <p:nvPr/>
        </p:nvSpPr>
        <p:spPr>
          <a:xfrm>
            <a:off x="411480" y="2523744"/>
            <a:ext cx="320040" cy="320040"/>
          </a:xfrm>
          <a:prstGeom prst="rect">
            <a:avLst/>
          </a:prstGeom>
          <a:solidFill>
            <a:srgbClr val="02C39A">
              <a:alpha val="70000"/>
            </a:srgbClr>
          </a:solidFill>
          <a:ln w="12700">
            <a:solidFill>
              <a:srgbClr val="02C39A"/>
            </a:solidFill>
            <a:prstDash val="solid"/>
          </a:ln>
        </p:spPr>
        <p:txBody>
          <a:bodyPr/>
          <a:lstStyle/>
          <a:p>
            <a:endParaRPr lang="en-US"/>
          </a:p>
        </p:txBody>
      </p:sp>
      <p:sp>
        <p:nvSpPr>
          <p:cNvPr id="11" name="Text 9"/>
          <p:cNvSpPr/>
          <p:nvPr/>
        </p:nvSpPr>
        <p:spPr>
          <a:xfrm>
            <a:off x="438912" y="2505456"/>
            <a:ext cx="274320" cy="347472"/>
          </a:xfrm>
          <a:prstGeom prst="rect">
            <a:avLst/>
          </a:prstGeom>
          <a:noFill/>
          <a:ln/>
        </p:spPr>
        <p:txBody>
          <a:bodyPr wrap="square"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841248" y="2414016"/>
            <a:ext cx="78638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Fusion penalty is separable per gene — per-gene parallelism preserved</a:t>
            </a:r>
            <a:endParaRPr lang="en-US" sz="1300" dirty="0"/>
          </a:p>
        </p:txBody>
      </p:sp>
      <p:sp>
        <p:nvSpPr>
          <p:cNvPr id="13" name="Shape 11"/>
          <p:cNvSpPr/>
          <p:nvPr/>
        </p:nvSpPr>
        <p:spPr>
          <a:xfrm>
            <a:off x="411480" y="3136392"/>
            <a:ext cx="320040" cy="320040"/>
          </a:xfrm>
          <a:prstGeom prst="rect">
            <a:avLst/>
          </a:prstGeom>
          <a:solidFill>
            <a:srgbClr val="F4A261">
              <a:alpha val="70000"/>
            </a:srgbClr>
          </a:solidFill>
          <a:ln w="12700">
            <a:solidFill>
              <a:srgbClr val="F4A261"/>
            </a:solidFill>
            <a:prstDash val="solid"/>
          </a:ln>
        </p:spPr>
        <p:txBody>
          <a:bodyPr/>
          <a:lstStyle/>
          <a:p>
            <a:endParaRPr lang="en-US"/>
          </a:p>
        </p:txBody>
      </p:sp>
      <p:sp>
        <p:nvSpPr>
          <p:cNvPr id="14" name="Text 12"/>
          <p:cNvSpPr/>
          <p:nvPr/>
        </p:nvSpPr>
        <p:spPr>
          <a:xfrm>
            <a:off x="438912" y="3118104"/>
            <a:ext cx="274320" cy="347472"/>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841248" y="3026664"/>
            <a:ext cx="78638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ADMM solver replaces GLMNet inside bStARS loop — per task GLMNet still used in W-update</a:t>
            </a:r>
            <a:endParaRPr lang="en-US" sz="1300" dirty="0"/>
          </a:p>
        </p:txBody>
      </p:sp>
      <p:sp>
        <p:nvSpPr>
          <p:cNvPr id="16" name="Shape 14"/>
          <p:cNvSpPr/>
          <p:nvPr/>
        </p:nvSpPr>
        <p:spPr>
          <a:xfrm>
            <a:off x="411480" y="3749040"/>
            <a:ext cx="320040" cy="320040"/>
          </a:xfrm>
          <a:prstGeom prst="rect">
            <a:avLst/>
          </a:prstGeom>
          <a:solidFill>
            <a:srgbClr val="D0DDE8">
              <a:alpha val="70000"/>
            </a:srgbClr>
          </a:solidFill>
          <a:ln w="12700">
            <a:solidFill>
              <a:srgbClr val="D0DDE8"/>
            </a:solidFill>
            <a:prstDash val="solid"/>
          </a:ln>
        </p:spPr>
        <p:txBody>
          <a:bodyPr/>
          <a:lstStyle/>
          <a:p>
            <a:endParaRPr lang="en-US"/>
          </a:p>
        </p:txBody>
      </p:sp>
      <p:sp>
        <p:nvSpPr>
          <p:cNvPr id="17" name="Text 15"/>
          <p:cNvSpPr/>
          <p:nvPr/>
        </p:nvSpPr>
        <p:spPr>
          <a:xfrm>
            <a:off x="438912" y="3730752"/>
            <a:ext cx="274320" cy="347472"/>
          </a:xfrm>
          <a:prstGeom prst="rect">
            <a:avLst/>
          </a:prstGeom>
          <a:noFill/>
          <a:ln/>
        </p:spPr>
        <p:txBody>
          <a:bodyPr wrap="square" rtlCol="0" anchor="ctr"/>
          <a:lstStyle/>
          <a:p>
            <a:pPr marL="0" indent="0" algn="ctr">
              <a:buNone/>
            </a:pPr>
            <a:r>
              <a:rPr lang="en-US" sz="1300" b="1" dirty="0">
                <a:solidFill>
                  <a:srgbClr val="D0DDE8"/>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841248" y="3639312"/>
            <a:ext cx="78638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All original modules unchanged — new functionality is purely additive</a:t>
            </a:r>
            <a:endParaRPr lang="en-US" sz="1300" dirty="0"/>
          </a:p>
        </p:txBody>
      </p:sp>
      <p:sp>
        <p:nvSpPr>
          <p:cNvPr id="19" name="Shape 17"/>
          <p:cNvSpPr/>
          <p:nvPr/>
        </p:nvSpPr>
        <p:spPr>
          <a:xfrm>
            <a:off x="411480" y="4361688"/>
            <a:ext cx="320040" cy="320040"/>
          </a:xfrm>
          <a:prstGeom prst="rect">
            <a:avLst/>
          </a:prstGeom>
          <a:solidFill>
            <a:srgbClr val="E76F51">
              <a:alpha val="70000"/>
            </a:srgbClr>
          </a:solidFill>
          <a:ln w="12700">
            <a:solidFill>
              <a:srgbClr val="E76F51"/>
            </a:solidFill>
            <a:prstDash val="solid"/>
          </a:ln>
        </p:spPr>
        <p:txBody>
          <a:bodyPr/>
          <a:lstStyle/>
          <a:p>
            <a:endParaRPr lang="en-US"/>
          </a:p>
        </p:txBody>
      </p:sp>
      <p:sp>
        <p:nvSpPr>
          <p:cNvPr id="20" name="Text 18"/>
          <p:cNvSpPr/>
          <p:nvPr/>
        </p:nvSpPr>
        <p:spPr>
          <a:xfrm>
            <a:off x="438912" y="4343400"/>
            <a:ext cx="274320" cy="347472"/>
          </a:xfrm>
          <a:prstGeom prst="rect">
            <a:avLst/>
          </a:prstGeom>
          <a:noFill/>
          <a:ln/>
        </p:spPr>
        <p:txBody>
          <a:bodyPr wrap="square" rtlCol="0" anchor="ctr"/>
          <a:lstStyle/>
          <a:p>
            <a:pPr marL="0" indent="0" algn="ctr">
              <a:buNone/>
            </a:pPr>
            <a:r>
              <a:rPr lang="en-US" sz="1300" b="1" dirty="0">
                <a:solidFill>
                  <a:srgbClr val="E76F51"/>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841248" y="4251960"/>
            <a:ext cx="78638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Validate on simulated data with known GRN before applying to real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1877</TotalTime>
  <Words>1002</Words>
  <Application>Microsoft Macintosh PowerPoint</Application>
  <PresentationFormat>On-screen Show (16:9)</PresentationFormat>
  <Paragraphs>148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Owoeye, Seyifunmi (owoeyesm)</cp:lastModifiedBy>
  <cp:revision>2</cp:revision>
  <dcterms:created xsi:type="dcterms:W3CDTF">2026-03-19T04:56:20Z</dcterms:created>
  <dcterms:modified xsi:type="dcterms:W3CDTF">2026-03-21T21:06:09Z</dcterms:modified>
</cp:coreProperties>
</file>