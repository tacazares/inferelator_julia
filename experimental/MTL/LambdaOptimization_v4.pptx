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046720" cy="960120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Lambda Optimisation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993392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t">
            <a:spAutoFit/>
          </a:bodyPr>
          <a:lstStyle/>
          <a:p>
            <a:pPr algn="l"/>
            <a:r>
              <a:rPr sz="1700" b="0" i="1">
                <a:solidFill>
                  <a:srgbClr val="00A896"/>
                </a:solidFill>
              </a:rPr>
              <a:t>Graph-Fused Multitask Inferelator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06040"/>
            <a:ext cx="6858000" cy="777240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t">
            <a:spAutoFit/>
          </a:bodyPr>
          <a:lstStyle/>
          <a:p>
            <a:pPr algn="l"/>
            <a:r>
              <a:rPr sz="1300" b="0" i="0">
                <a:solidFill>
                  <a:srgbClr val="A0AEC0"/>
                </a:solidFill>
              </a:rPr>
              <a:t>Three options: Fixed Ratio · EBIC Grid · 2D bStARS</a:t>
            </a:r>
          </a:p>
          <a:p>
            <a:pPr algn="l"/>
            <a:r>
              <a:rPr sz="1300" b="0" i="0">
                <a:solidFill>
                  <a:srgbClr val="A0AEC0"/>
                </a:solidFill>
              </a:rPr>
              <a:t>Elastic Net Extension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0">
            <a:solidFill>
              <a:srgbClr val="0D1B2A"/>
            </a:solidFill>
          </a:ln>
        </p:spPr>
        <p:txBody>
          <a:bodyPr wrap="square" lIns="292608" rIns="18288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Two-Lambda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621792"/>
          </a:xfrm>
          <a:prstGeom prst="rect">
            <a:avLst/>
          </a:prstGeom>
          <a:solidFill>
            <a:srgbClr val="E8F0F8"/>
          </a:solidFill>
          <a:ln w="9525">
            <a:solidFill>
              <a:srgbClr val="D0DDE8"/>
            </a:solidFill>
          </a:ln>
        </p:spPr>
        <p:txBody>
          <a:bodyPr wrap="square" lIns="91440" rIns="91440" tIns="45720" bIns="45720" anchor="ctr">
            <a:spAutoFit/>
          </a:bodyPr>
          <a:lstStyle/>
          <a:p xmlns:a14="http://schemas.microsoft.com/office/drawing/2010/main" xmlns:m="http://schemas.openxmlformats.org/officeDocument/2006/math">
            <a14:m>
              <m:oMathPara>
                <m:oMathParaPr>
                  <m:jc m:val="center"/>
                </m:oMathParaPr>
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<m:limLow>
                    <m:e>
                      <m:r>
                        <m:rPr>
                          <m:sty m:val="p"/>
                        </m:rPr>
                        <m:t>min</m:t>
                      </m:r>
                    </m:e>
                    <m:lim>
                      <m:r>
                        <m:t>w</m:t>
                      </m:r>
                    </m:lim>
                  </m:limLow>
                  <m:r>
                    <m:t> 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2</m:t>
                      </m:r>
                      <m:r>
                        <m:t>n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m:t>d</m:t>
                      </m:r>
                    </m:sub>
                    <m:sup>
                      <m:r>
                        <m:t>​</m:t>
                      </m:r>
                    </m:sup>
                    <m:e>
                      <m:r>
                        <m:rPr>
                          <m:sty m:val="p"/>
                        </m:rPr>
                        <m:t>∥</m:t>
                      </m:r>
                    </m:e>
                  </m:nary>
                  <m:sSubSup>
                    <m:e>
                      <m:r>
                        <m:t>X</m:t>
                      </m:r>
                    </m:e>
                    <m:sub>
                      <m:r>
                        <m:t>i</m:t>
                      </m:r>
                    </m:sub>
                    <m: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</m:e>
                      </m:d>
                    </m:sup>
                  </m:sSubSup>
                  <m:r>
                    <m:rPr>
                      <m:sty m:val="p"/>
                    </m:rPr>
                    <m:t>−</m:t>
                  </m:r>
                  <m:sSup>
                    <m:e>
                      <m:r>
                        <m:t>A</m:t>
                      </m:r>
                    </m:e>
                    <m: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</m:e>
                      </m:d>
                      <m:r>
                        <m:t>T</m:t>
                      </m:r>
                    </m:sup>
                  </m:sSup>
                  <m:sSubSup>
                    <m:e>
                      <m:r>
                        <m:t>w</m:t>
                      </m:r>
                    </m:e>
                    <m:sub>
                      <m:r>
                        <m:t>i</m:t>
                      </m:r>
                    </m:sub>
                    <m: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</m:e>
                      </m:d>
                    </m:sup>
                  </m:sSubSup>
                  <m:sSubSup>
                    <m:e>
                      <m:r>
                        <m:rPr>
                          <m:sty m:val="p"/>
                        </m:rPr>
                        <m:t>∥</m:t>
                      </m:r>
                    </m:e>
                    <m:sub>
                      <m:r>
                        <m:t>2</m:t>
                      </m:r>
                    </m:sub>
                    <m:sup>
                      <m:r>
                        <m:t>2</m:t>
                      </m:r>
                    </m:sup>
                  </m:sSubSup>
                  <m:r>
                    <m:rPr>
                      <m:sty m:val="p"/>
                    </m:rPr>
                    <m:t>+</m:t>
                  </m:r>
                  <m:sSub>
                    <m:e>
                      <m:r>
                        <m:t>λ</m:t>
                      </m:r>
                    </m:e>
                    <m:sub>
                      <m:r>
                        <m:t>s</m:t>
                      </m:r>
                    </m:sub>
                  </m:sSub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m:t>k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</m:sub>
                    <m:sup>
                      <m:r>
                        <m:t>​</m:t>
                      </m:r>
                    </m:sup>
                    <m:e>
                      <m:d>
                        <m:dPr>
                          <m:begChr m:val="|"/>
                          <m:endChr m:val="|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Φ</m:t>
                              </m:r>
                            </m:e>
                            <m:sub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d</m:t>
                              </m:r>
                            </m:sub>
                          </m:sSub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d</m:t>
                              </m:r>
                            </m:sub>
                          </m:sSub>
                        </m:e>
                      </m:d>
                    </m:e>
                  </m:nary>
                  <m:r>
                    <m:rPr>
                      <m:sty m:val="p"/>
                    </m:rPr>
                    <m:t>+</m:t>
                  </m:r>
                  <m:sSub>
                    <m:e>
                      <m:r>
                        <m:t>λ</m:t>
                      </m:r>
                    </m:e>
                    <m:sub>
                      <m:r>
                        <m:t>f</m:t>
                      </m:r>
                    </m:sub>
                  </m:sSub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′</m:t>
                          </m:r>
                        </m:e>
                      </m:d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ty m:val="p"/>
                          <m:scr m:val="script"/>
                        </m:rPr>
                        <m:t>E</m:t>
                      </m:r>
                    </m:sub>
                    <m:sup>
                      <m:r>
                        <m:t>​</m:t>
                      </m:r>
                    </m:sup>
                    <m:e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i</m:t>
                      </m:r>
                      <m:r>
                        <m:rPr>
                          <m:sty m:val="p"/>
                        </m:rPr>
                        <m:t>m</m:t>
                      </m:r>
                    </m:e>
                  </m:nary>
                  <m:d>
                    <m:dPr>
                      <m:begChr m:val="("/>
                      <m:endChr m:val=")"/>
                      <m:sepChr m:val=""/>
                      <m:grow/>
                    </m:dPr>
                    <m:e>
                      <m:r>
                        <m:t>d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′</m:t>
                      </m:r>
                    </m:e>
                  </m:d>
                  <m:r>
                    <m:rPr>
                      <m:sty m:val="p"/>
                    </m:rPr>
                    <m:t>∥</m:t>
                  </m:r>
                  <m:sSup>
                    <m:e>
                      <m:r>
                        <m:t>w</m:t>
                      </m:r>
                    </m:e>
                    <m: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</m:e>
                      </m:d>
                    </m:sup>
                  </m:sSup>
                  <m:r>
                    <m:rPr>
                      <m:sty m:val="p"/>
                    </m:rPr>
                    <m:t>−</m:t>
                  </m:r>
                  <m:sSup>
                    <m:e>
                      <m:r>
                        <m:t>w</m:t>
                      </m:r>
                    </m:e>
                    <m: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′</m:t>
                          </m:r>
                        </m:e>
                      </m:d>
                    </m:sup>
                  </m:sSup>
                  <m:sSub>
                    <m:e>
                      <m:r>
                        <m:rPr>
                          <m:sty m:val="p"/>
                        </m:rPr>
                        <m:t>∥</m:t>
                      </m:r>
                    </m:e>
                    <m:sub>
                      <m:r>
                        <m:t>1</m:t>
                      </m:r>
                    </m:sub>
                  </m:sSub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74320" y="1481328"/>
            <a:ext cx="416052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</a:rPr>
              <a:t>λs — Sparsity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Controls sparsity of each task's network
</a:t>
            </a:r>
            <a:r>
              <a:rPr sz="1100" b="0" i="0">
                <a:solidFill>
                  <a:srgbClr val="1A2B3C"/>
                </a:solidFill>
              </a:rPr>
              <a:t>Prior Φ lowers penalty for known edges
</a:t>
            </a:r>
            <a:r>
              <a:rPr sz="1100" b="0" i="0">
                <a:solidFill>
                  <a:srgbClr val="1A2B3C"/>
                </a:solidFill>
              </a:rPr>
              <a:t>bStARS selects λs in single-task setting
</a:t>
            </a:r>
            <a:r>
              <a:rPr sz="1100" b="0" i="0">
                <a:solidFill>
                  <a:srgbClr val="1A2B3C"/>
                </a:solidFill>
              </a:rPr>
              <a:t>Status: solved by the original bStARS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481328"/>
            <a:ext cx="416052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47F00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C47F00"/>
                </a:solidFill>
              </a:rPr>
              <a:t>λf — Fusion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Controls strength of cross-task coupling
</a:t>
            </a:r>
            <a:r>
              <a:rPr sz="1100" b="0" i="0">
                <a:solidFill>
                  <a:srgbClr val="1A2B3C"/>
                </a:solidFill>
              </a:rPr>
              <a:t>Higher λf → tasks share more edge structure
</a:t>
            </a:r>
            <a:r>
              <a:rPr sz="1100" b="0" i="0">
                <a:solidFill>
                  <a:srgbClr val="1A2B3C"/>
                </a:solidFill>
              </a:rPr>
              <a:t>No bStARS analogue exists natively
</a:t>
            </a:r>
            <a:r>
              <a:rPr sz="1100" b="0" i="0">
                <a:solidFill>
                  <a:srgbClr val="1A2B3C"/>
                </a:solidFill>
              </a:rPr>
              <a:t>Status: the problem to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703320"/>
            <a:ext cx="8595360" cy="621792"/>
          </a:xfrm>
          <a:prstGeom prst="rect">
            <a:avLst/>
          </a:prstGeom>
          <a:solidFill>
            <a:srgbClr val="F0F4F8"/>
          </a:solidFill>
          <a:ln w="19050">
            <a:solidFill>
              <a:srgbClr val="00A896"/>
            </a:solidFill>
          </a:ln>
        </p:spPr>
        <p:txBody>
          <a:bodyPr wrap="square" lIns="164592" rIns="128016" tIns="73152" bIns="73152" anchor="ctr">
            <a:spAutoFit/>
          </a:bodyPr>
          <a:lstStyle/>
          <a:p>
            <a:pPr algn="l"/>
            <a:r>
              <a:rPr sz="1100" b="0" i="1">
                <a:solidFill>
                  <a:srgbClr val="1A2B3C"/>
                </a:solidFill>
              </a:rPr>
              <a:t>Key challenge: λs and λf are not independent — the optimal λs shifts as λf changes. All three strategies below account for this.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A896"/>
          </a:solidFill>
          <a:ln w="0">
            <a:solidFill>
              <a:srgbClr val="00A896"/>
            </a:solidFill>
          </a:ln>
        </p:spPr>
        <p:txBody>
          <a:bodyPr wrap="square" lIns="292608" rIns="18288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Option 1 — Fixed Ratio  (λf = α × λs)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566928"/>
          </a:xfrm>
          <a:prstGeom prst="rect">
            <a:avLst/>
          </a:prstGeom>
          <a:solidFill>
            <a:srgbClr val="E8F0F8"/>
          </a:solidFill>
          <a:ln w="9525">
            <a:solidFill>
              <a:srgbClr val="D0DDE8"/>
            </a:solidFill>
          </a:ln>
        </p:spPr>
        <p:txBody>
          <a:bodyPr wrap="square" lIns="91440" rIns="91440" tIns="45720" bIns="45720" anchor="ctr">
            <a:spAutoFit/>
          </a:bodyPr>
          <a:lstStyle/>
          <a:p xmlns:a14="http://schemas.microsoft.com/office/drawing/2010/main" xmlns:m="http://schemas.openxmlformats.org/officeDocument/2006/math">
            <a14:m>
              <m:oMathPara>
                <m:oMathParaPr>
                  <m:jc m:val="center"/>
                </m:oMathParaPr>
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<m:sSub>
                    <m:e>
                      <m:r>
                        <m:t>λ</m:t>
                      </m:r>
                    </m:e>
                    <m:sub>
                      <m:r>
                        <m:t>f</m:t>
                      </m:r>
                    </m:sub>
                  </m:sSub>
                  <m:r>
                    <m:rPr>
                      <m:sty m:val="p"/>
                    </m:rPr>
                    <m:t>=</m:t>
                  </m:r>
                  <m:r>
                    <m:t>α</m:t>
                  </m:r>
                  <m:r>
                    <m:rPr>
                      <m:sty m:val="p"/>
                    </m:rPr>
                    <m:t>×</m:t>
                  </m:r>
                  <m:sSub>
                    <m:e>
                      <m:r>
                        <m:t>λ</m:t>
                      </m:r>
                    </m:e>
                    <m:sub>
                      <m:r>
                        <m:t>s</m:t>
                      </m:r>
                    </m:sub>
                  </m:sSub>
                  <m:r>
                    <m:t>  </m:t>
                  </m:r>
                  <m:r>
                    <m:t>α</m:t>
                  </m:r>
                  <m:r>
                    <m:rPr>
                      <m:sty m:val="p"/>
                    </m:rPr>
                    <m:t>∈</m:t>
                  </m:r>
                  <m:d>
                    <m:dPr>
                      <m:begChr m:val="["/>
                      <m:endChr m:val="]"/>
                      <m:sepChr m:val=""/>
                      <m:grow/>
                    </m:dPr>
                    <m:e>
                      <m:r>
                        <m:t>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1</m:t>
                      </m:r>
                    </m:e>
                  </m:d>
                  <m:r>
                    <m:rPr>
                      <m:nor/>
                      <m:sty m:val="p"/>
                    </m:rPr>
                    <m:t> user-defined</m:t>
                  </m:r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74320" y="1426464"/>
            <a:ext cx="4160520" cy="2971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</a:rPr>
              <a:t>How it works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1. bStARS warm start finds λs search range
</a:t>
            </a:r>
            <a:r>
              <a:rPr sz="1100" b="0" i="0">
                <a:solidFill>
                  <a:srgbClr val="1A2B3C"/>
                </a:solidFill>
              </a:rPr>
              <a:t>2. Set λf = α × λs at every grid point
</a:t>
            </a:r>
            <a:r>
              <a:rPr sz="1100" b="0" i="0">
                <a:solidFill>
                  <a:srgbClr val="1A2B3C"/>
                </a:solidFill>
              </a:rPr>
              <a:t>3. ADMM runs with both penalties coupled
</a:t>
            </a:r>
            <a:r>
              <a:rPr sz="1100" b="0" i="0">
                <a:solidFill>
                  <a:srgbClr val="1A2B3C"/>
                </a:solidFill>
              </a:rPr>
              <a:t>4. bStARS selects λs at the instability target
</a:t>
            </a:r>
            <a:r>
              <a:rPr sz="1100" b="0" i="0">
                <a:solidFill>
                  <a:srgbClr val="1A2B3C"/>
                </a:solidFill>
              </a:rPr>
              <a:t>5. λf is fully determined by α
</a:t>
            </a:r>
            <a:r>
              <a:rPr sz="1100" b="0" i="0">
                <a:solidFill>
                  <a:srgbClr val="1A2B3C"/>
                </a:solidFill>
              </a:rPr>
              <a:t>Code:  lambdaOpt = :fixed_ratio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426464"/>
            <a:ext cx="4160520" cy="2971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47F00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C47F00"/>
                </a:solidFill>
              </a:rPr>
              <a:t>Choosing α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1" i="0">
                <a:solidFill>
                  <a:srgbClr val="C47F00"/>
                </a:solidFill>
              </a:rPr>
              <a:t>α = 0</a:t>
            </a:r>
            <a:r>
              <a:rPr sz="1100" b="0" i="0">
                <a:solidFill>
                  <a:srgbClr val="1A2B3C"/>
                </a:solidFill>
              </a:rPr>
              <a:t>  No fusion — independent LASSO
</a:t>
            </a:r>
            <a:r>
              <a:rPr sz="1100" b="1" i="0">
                <a:solidFill>
                  <a:srgbClr val="C47F00"/>
                </a:solidFill>
              </a:rPr>
              <a:t>α = 0.1–0.3</a:t>
            </a:r>
            <a:r>
              <a:rPr sz="1100" b="0" i="0">
                <a:solidFill>
                  <a:srgbClr val="1A2B3C"/>
                </a:solidFill>
              </a:rPr>
              <a:t>  Light coupling; heterogeneous tasks
</a:t>
            </a:r>
            <a:r>
              <a:rPr sz="1100" b="1" i="0">
                <a:solidFill>
                  <a:srgbClr val="C47F00"/>
                </a:solidFill>
              </a:rPr>
              <a:t>α = 0.5–1.0</a:t>
            </a:r>
            <a:r>
              <a:rPr sz="1100" b="0" i="0">
                <a:solidFill>
                  <a:srgbClr val="1A2B3C"/>
                </a:solidFill>
              </a:rPr>
              <a:t>  Strong coupling; similar tasks
</a:t>
            </a:r>
            <a:r>
              <a:rPr sz="1100" b="1" i="0">
                <a:solidFill>
                  <a:srgbClr val="C47F00"/>
                </a:solidFill>
              </a:rPr>
              <a:t>Recommended</a:t>
            </a:r>
            <a:r>
              <a:rPr sz="1100" b="0" i="0">
                <a:solidFill>
                  <a:srgbClr val="1A2B3C"/>
                </a:solidFill>
              </a:rPr>
              <a:t>  Start at α = 0.1, validate on gold std
</a:t>
            </a:r>
            <a:r>
              <a:rPr sz="1100" b="1" i="0">
                <a:solidFill>
                  <a:srgbClr val="C47F00"/>
                </a:solidFill>
              </a:rPr>
              <a:t>Pros</a:t>
            </a:r>
            <a:r>
              <a:rPr sz="1100" b="0" i="0">
                <a:solidFill>
                  <a:srgbClr val="1A2B3C"/>
                </a:solidFill>
              </a:rPr>
              <a:t>  Zero added cost over original bStARS
</a:t>
            </a:r>
            <a:r>
              <a:rPr sz="1100" b="1" i="0">
                <a:solidFill>
                  <a:srgbClr val="C47F00"/>
                </a:solidFill>
              </a:rPr>
              <a:t>Cons</a:t>
            </a:r>
            <a:r>
              <a:rPr sz="1100" b="0" i="0">
                <a:solidFill>
                  <a:srgbClr val="1A2B3C"/>
                </a:solidFill>
              </a:rPr>
              <a:t>  α is arbitrary; misspec biases all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73152" bIns="73152" anchor="ctr">
            <a:spAutoFit/>
          </a:bodyPr>
          <a:lstStyle/>
          <a:p>
            <a:pPr algn="ctr"/>
            <a:r>
              <a:rPr sz="1050" b="0" i="1">
                <a:solidFill>
                  <a:srgbClr val="8899AA"/>
                </a:solidFill>
              </a:rPr>
              <a:t>Fastest. Least principled for λf. Best for initial exploration.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47F00"/>
          </a:solidFill>
          <a:ln w="0">
            <a:solidFill>
              <a:srgbClr val="C47F00"/>
            </a:solidFill>
          </a:ln>
        </p:spPr>
        <p:txBody>
          <a:bodyPr wrap="square" lIns="292608" rIns="18288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Option 2 — EBIC Grid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E8F0F8"/>
          </a:solidFill>
          <a:ln w="9525">
            <a:solidFill>
              <a:srgbClr val="D0DDE8"/>
            </a:solidFill>
          </a:ln>
        </p:spPr>
        <p:txBody>
          <a:bodyPr wrap="square" lIns="91440" rIns="91440" tIns="45720" bIns="45720" anchor="ctr">
            <a:spAutoFit/>
          </a:bodyPr>
          <a:lstStyle/>
          <a:p xmlns:a14="http://schemas.microsoft.com/office/drawing/2010/main" xmlns:m="http://schemas.openxmlformats.org/officeDocument/2006/math">
            <a14:m>
              <m:oMathPara>
                <m:oMathParaPr>
                  <m:jc m:val="center"/>
                </m:oMathParaPr>
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<m:r>
                    <m:rPr>
                      <m:sty m:val="p"/>
                    </m:rPr>
                    <m:t>E</m:t>
                  </m:r>
                  <m:r>
                    <m:rPr>
                      <m:sty m:val="p"/>
                    </m:rPr>
                    <m:t>B</m:t>
                  </m:r>
                  <m:r>
                    <m:rPr>
                      <m:sty m:val="p"/>
                    </m:rPr>
                    <m:t>I</m:t>
                  </m:r>
                  <m:r>
                    <m:rPr>
                      <m:sty m:val="p"/>
                    </m:rPr>
                    <m:t>C</m:t>
                  </m:r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D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m:t>d</m:t>
                      </m:r>
                    </m:sub>
                    <m:sup>
                      <m:r>
                        <m:t>​</m:t>
                      </m:r>
                    </m:sup>
                    <m:e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ln</m:t>
                          </m:r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m:t>R</m:t>
                                  </m:r>
                                  <m:r>
                                    <m:rPr>
                                      <m:sty m:val="p"/>
                                    </m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m:t>S</m:t>
                                  </m:r>
                                </m:e>
                                <m:sub>
                                  <m:r>
                                    <m:t>d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m:t>n</m:t>
                                  </m:r>
                                </m:e>
                                <m:sub>
                                  <m:r>
                                    <m:t>d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k</m:t>
                              </m:r>
                            </m:e>
                            <m:sub>
                              <m:r>
                                <m:t>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ln</m:t>
                          </m:r>
                          <m:sSub>
                            <m:e>
                              <m:r>
                                <m:t>n</m:t>
                              </m:r>
                            </m:e>
                            <m:sub>
                              <m:r>
                                <m:t>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2</m:t>
                          </m:r>
                          <m:r>
                            <m:t>γ</m:t>
                          </m:r>
                          <m:r>
                            <m:rPr>
                              <m:sty m:val="p"/>
                            </m:rPr>
                            <m:t>ln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f>
                                <m:fPr>
                                  <m:type m:val="noBar"/>
                                </m:fPr>
                                <m:num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d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e>
                                      <m:r>
                                        <m:t>k</m:t>
                                      </m:r>
                                    </m:e>
                                    <m:sub>
                                      <m:r>
                                        <m:t>d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</m:e>
                  </m:nary>
                  <m:r>
                    <m:t> </m:t>
                  </m:r>
                  <m:r>
                    <m:t>γ</m:t>
                  </m:r>
                  <m:r>
                    <m:rPr>
                      <m:sty m:val="p"/>
                    </m:rPr>
                    <m:t>=</m:t>
                  </m:r>
                  <m:r>
                    <m:t>1</m:t>
                  </m:r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74320" y="1536192"/>
            <a:ext cx="2743200" cy="2788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47F00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C47F00"/>
                </a:solidFill>
              </a:rPr>
              <a:t>① Build 2D grid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Log-scale λs ∈ [0.01, 10]
</a:t>
            </a:r>
            <a:r>
              <a:rPr sz="1100" b="0" i="0">
                <a:solidFill>
                  <a:srgbClr val="1A2B3C"/>
                </a:solidFill>
              </a:rPr>
              <a:t>α = λf/λs ∈ [0.05, 1.0]
</a:t>
            </a:r>
            <a:r>
              <a:rPr sz="1100" b="0" i="0">
                <a:solidFill>
                  <a:srgbClr val="1A2B3C"/>
                </a:solidFill>
              </a:rPr>
              <a:t>Enforce ½ &lt; λs/λf &lt; 1
</a:t>
            </a:r>
            <a:r>
              <a:rPr sz="1100" b="0" i="0">
                <a:solidFill>
                  <a:srgbClr val="1A2B3C"/>
                </a:solidFill>
              </a:rPr>
              <a:t>Typically 10 × 10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79" y="1536192"/>
            <a:ext cx="2743200" cy="2788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</a:rPr>
              <a:t>② Warm-start ADMM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Traverse grid high to low
</a:t>
            </a:r>
            <a:r>
              <a:rPr sz="1100" b="0" i="0">
                <a:solidFill>
                  <a:srgbClr val="1A2B3C"/>
                </a:solidFill>
              </a:rPr>
              <a:t>(λs + λf) decreasing order
</a:t>
            </a:r>
            <a:r>
              <a:rPr sz="1100" b="0" i="0">
                <a:solidFill>
                  <a:srgbClr val="1A2B3C"/>
                </a:solidFill>
              </a:rPr>
              <a:t>Init from previous converged solution
</a:t>
            </a:r>
            <a:r>
              <a:rPr sz="1100" b="0" i="0">
                <a:solidFill>
                  <a:srgbClr val="1A2B3C"/>
                </a:solidFill>
              </a:rPr>
              <a:t>(~80% fewer ADMM iterations)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536192"/>
            <a:ext cx="2743200" cy="2788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③ Select min EBIC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Evaluate EBIC at each point
</a:t>
            </a:r>
            <a:r>
              <a:rPr sz="1100" b="0" i="0">
                <a:solidFill>
                  <a:srgbClr val="1A2B3C"/>
                </a:solidFill>
              </a:rPr>
              <a:t>Choose (λs*, λf*) = argmin
</a:t>
            </a:r>
            <a:r>
              <a:rPr sz="1100" b="0" i="0">
                <a:solidFill>
                  <a:srgbClr val="1A2B3C"/>
                </a:solidFill>
              </a:rPr>
              <a:t>Use γ = 1 for high-dim data
</a:t>
            </a:r>
            <a:r>
              <a:rPr sz="1100" b="0" i="0">
                <a:solidFill>
                  <a:srgbClr val="1A2B3C"/>
                </a:solidFill>
              </a:rPr>
              <a:t>Code: lambdaOpt = :ebic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73152" bIns="73152" anchor="ctr">
            <a:spAutoFit/>
          </a:bodyPr>
          <a:lstStyle/>
          <a:p>
            <a:pPr algn="ctr"/>
            <a:r>
              <a:rPr sz="1050" b="0" i="1">
                <a:solidFill>
                  <a:srgbClr val="8899AA"/>
                </a:solidFill>
              </a:rPr>
              <a:t>Balanced cost and rigor. Recommended for production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0">
            <a:solidFill>
              <a:srgbClr val="C0392B"/>
            </a:solidFill>
          </a:ln>
        </p:spPr>
        <p:txBody>
          <a:bodyPr wrap="square" lIns="292608" rIns="18288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Option 3 — 2D bStARS Instability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621792"/>
          </a:xfrm>
          <a:prstGeom prst="rect">
            <a:avLst/>
          </a:prstGeom>
          <a:solidFill>
            <a:srgbClr val="E8F0F8"/>
          </a:solidFill>
          <a:ln w="9525">
            <a:solidFill>
              <a:srgbClr val="D0DDE8"/>
            </a:solidFill>
          </a:ln>
        </p:spPr>
        <p:txBody>
          <a:bodyPr wrap="square" lIns="91440" rIns="91440" tIns="45720" bIns="45720" anchor="ctr">
            <a:spAutoFit/>
          </a:bodyPr>
          <a:lstStyle/>
          <a:p xmlns:a14="http://schemas.microsoft.com/office/drawing/2010/main" xmlns:m="http://schemas.openxmlformats.org/officeDocument/2006/math">
            <a14:m>
              <m:oMathPara>
                <m:oMathParaPr>
                  <m:jc m:val="center"/>
                </m:oMathParaPr>
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<m:sSub>
                    <m:e>
                      <m:r>
                        <m:t>D</m:t>
                      </m:r>
                    </m:e>
                    <m:sub>
                      <m:r>
                        <m:rPr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n</m:t>
                      </m:r>
                      <m:r>
                        <m:rPr>
                          <m:sty m:val="p"/>
                        </m:rPr>
                        <m:t>e</m:t>
                      </m:r>
                    </m:sub>
                  </m:sSub>
                  <m:d>
                    <m:dPr>
                      <m:begChr m:val="("/>
                      <m:endChr m:val=")"/>
                      <m:sepChr m:val=""/>
                      <m:grow/>
                    </m:dPr>
                    <m:e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f</m:t>
                          </m:r>
                        </m:sub>
                      </m:sSub>
                    </m:e>
                  </m:d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d>
                        <m:dPr>
                          <m:begChr m:val="|"/>
                          <m:endChr m:val="|"/>
                          <m:sepChr m:val=""/>
                          <m:grow/>
                        </m:dPr>
                        <m:e>
                          <m:r>
                            <m:rPr>
                              <m:sty m:val="p"/>
                              <m:scr m:val="script"/>
                            </m:rPr>
                            <m:t>E</m:t>
                          </m:r>
                        </m:e>
                      </m:d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m:t>k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</m:sub>
                    <m:sup>
                      <m:r>
                        <m:t>​</m:t>
                      </m:r>
                    </m:sup>
                    <m:e>
                      <m:r>
                        <m:t>2</m:t>
                      </m:r>
                    </m:e>
                  </m:nary>
                  <m:r>
                    <m:t> </m:t>
                  </m:r>
                  <m:sSub>
                    <m:e>
                      <m:r>
                        <m:t>θ</m:t>
                      </m:r>
                    </m:e>
                    <m:sub>
                      <m:r>
                        <m:t>k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</m:sub>
                  </m:sSub>
                  <m:d>
                    <m:dPr>
                      <m:begChr m:val="("/>
                      <m:endChr m:val=")"/>
                      <m:sepChr m:val=""/>
                      <m:grow/>
                    </m:dPr>
                    <m:e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θ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</m:sub>
                      </m:sSub>
                    </m:e>
                  </m:d>
                  <m:r>
                    <m:t>  </m:t>
                  </m:r>
                  <m:r>
                    <m:rPr>
                      <m:nor/>
                      <m:sty m:val="p"/>
                    </m:rPr>
                    <m:t>find contour at </m:t>
                  </m:r>
                  <m:sSub>
                    <m:e>
                      <m:r>
                        <m:t>D</m:t>
                      </m:r>
                    </m:e>
                    <m:sub>
                      <m:r>
                        <m:rPr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n</m:t>
                      </m:r>
                      <m:r>
                        <m:rPr>
                          <m:sty m:val="p"/>
                        </m:rPr>
                        <m:t>e</m:t>
                      </m:r>
                    </m:sub>
                  </m:sSub>
                  <m:r>
                    <m:rPr>
                      <m:sty m:val="p"/>
                    </m:rPr>
                    <m:t>=</m:t>
                  </m:r>
                  <m:r>
                    <m:t>0.05</m:t>
                  </m:r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74320" y="1481328"/>
            <a:ext cx="4160520" cy="294436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Approach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Compute instability across 2D (λs, λf) grid
</a:t>
            </a:r>
            <a:r>
              <a:rPr sz="1100" b="0" i="0">
                <a:solidFill>
                  <a:srgbClr val="1A2B3C"/>
                </a:solidFill>
              </a:rPr>
              <a:t>Identify contour D(λs, λf) = 0.05
</a:t>
            </a:r>
            <a:r>
              <a:rPr sz="1100" b="0" i="0">
                <a:solidFill>
                  <a:srgbClr val="1A2B3C"/>
                </a:solidFill>
              </a:rPr>
              <a:t>Within contour, apply secondary criterion:
</a:t>
            </a:r>
            <a:r>
              <a:rPr sz="1100" b="0" i="0">
                <a:solidFill>
                  <a:srgbClr val="1A2B3C"/>
                </a:solidFill>
              </a:rPr>
              <a:t>   max λs  (most sparse network)
</a:t>
            </a:r>
            <a:r>
              <a:rPr sz="1100" b="0" i="0">
                <a:solidFill>
                  <a:srgbClr val="1A2B3C"/>
                </a:solidFill>
              </a:rPr>
              <a:t>   max λf  (most fused network)
</a:t>
            </a:r>
            <a:r>
              <a:rPr sz="1100" b="0" i="0">
                <a:solidFill>
                  <a:srgbClr val="1A2B3C"/>
                </a:solidFill>
              </a:rPr>
              <a:t>   min EBIC  ← recommended
</a:t>
            </a:r>
            <a:r>
              <a:rPr sz="1100" b="0" i="0">
                <a:solidFill>
                  <a:srgbClr val="1A2B3C"/>
                </a:solidFill>
              </a:rPr>
              <a:t>Coarse-to-fine: 5×5 then 10×10
</a:t>
            </a:r>
            <a:r>
              <a:rPr sz="1100" b="0" i="0">
                <a:solidFill>
                  <a:srgbClr val="1A2B3C"/>
                </a:solidFill>
              </a:rPr>
              <a:t>Code:  lambdaOpt = :bstars_2d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481328"/>
            <a:ext cx="4160520" cy="29443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</a:rPr>
              <a:t>Why This Is Strongest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Extends exact bStARS criterion for λs — no new assumptions
</a:t>
            </a:r>
            <a:r>
              <a:rPr sz="1100" b="0" i="0">
                <a:solidFill>
                  <a:srgbClr val="1A2B3C"/>
                </a:solidFill>
              </a:rPr>
              <a:t>Stability guarantee covers both λs and λf
</a:t>
            </a:r>
            <a:r>
              <a:rPr sz="1100" b="0" i="0">
                <a:solidFill>
                  <a:srgbClr val="1A2B3C"/>
                </a:solidFill>
              </a:rPr>
              <a:t>EBIC tiebreaker: stability + goodness-of-fit
</a:t>
            </a:r>
            <a:r>
              <a:rPr sz="1100" b="0" i="0">
                <a:solidFill>
                  <a:srgbClr val="1A2B3C"/>
                </a:solidFill>
              </a:rPr>
              <a:t>Most expensive, most defensible for publication
</a:t>
            </a:r>
            <a:r>
              <a:rPr sz="1100" b="0" i="0">
                <a:solidFill>
                  <a:srgbClr val="1A2B3C"/>
                </a:solidFill>
              </a:rPr>
              <a:t>Best use: gold-standard benchmarking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73152" bIns="73152" anchor="ctr">
            <a:spAutoFit/>
          </a:bodyPr>
          <a:lstStyle/>
          <a:p>
            <a:pPr algn="ctr"/>
            <a:r>
              <a:rPr sz="1050" b="0" i="1">
                <a:solidFill>
                  <a:srgbClr val="8899AA"/>
                </a:solidFill>
              </a:rPr>
              <a:t>Most principled. Highest cost. Use for benchmarking and publication.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0">
            <a:solidFill>
              <a:srgbClr val="0D1B2A"/>
            </a:solidFill>
          </a:ln>
        </p:spPr>
        <p:txBody>
          <a:bodyPr wrap="square" lIns="292608" rIns="18288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Comparison &amp; Recommended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68096"/>
            <a:ext cx="192024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194560" y="768096"/>
            <a:ext cx="2103120" cy="457200"/>
          </a:xfrm>
          <a:prstGeom prst="rect">
            <a:avLst/>
          </a:prstGeom>
          <a:solidFill>
            <a:srgbClr val="00A896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Option 1: Fixed Ratio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768096"/>
            <a:ext cx="2103120" cy="457200"/>
          </a:xfrm>
          <a:prstGeom prst="rect">
            <a:avLst/>
          </a:prstGeom>
          <a:solidFill>
            <a:srgbClr val="C47F00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Option 2: EBIC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799" y="768096"/>
            <a:ext cx="2103120" cy="457200"/>
          </a:xfrm>
          <a:prstGeom prst="rect">
            <a:avLst/>
          </a:prstGeom>
          <a:solidFill>
            <a:srgbClr val="C0392B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Option 3: 2D bStARS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25295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00A896"/>
                </a:solidFill>
              </a:rPr>
              <a:t>Cost (relative)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225295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1×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225295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~10–20×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1225295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~50–200×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682495"/>
            <a:ext cx="192024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00A896"/>
                </a:solidFill>
              </a:rPr>
              <a:t>λf principled?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682495"/>
            <a:ext cx="210312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No — user 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82495"/>
            <a:ext cx="210312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Yes — EBIC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1682495"/>
            <a:ext cx="210312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Yes — bStARS+EBIC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1396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00A896"/>
                </a:solidFill>
              </a:rPr>
              <a:t>λs principled?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13969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Yes — bStARS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3969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Yes — EBIC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213969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Yes — bStARS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96896"/>
            <a:ext cx="192024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00A896"/>
                </a:solidFill>
              </a:rPr>
              <a:t>Stability guarantee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596896"/>
            <a:ext cx="210312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λs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596896"/>
            <a:ext cx="210312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None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9" y="2596896"/>
            <a:ext cx="210312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Both parameters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05409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00A896"/>
                </a:solidFill>
              </a:rPr>
              <a:t>Best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05409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Exploration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05409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9" y="305409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Benchmarking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511296"/>
            <a:ext cx="192024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00A896"/>
                </a:solidFill>
              </a:rPr>
              <a:t>Code flag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3511296"/>
            <a:ext cx="210312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:fixed_ratio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511296"/>
            <a:ext cx="210312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:ebic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799" y="3511296"/>
            <a:ext cx="2103120" cy="4572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:bstars_2d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078224"/>
            <a:ext cx="8595360" cy="804672"/>
          </a:xfrm>
          <a:prstGeom prst="rect">
            <a:avLst/>
          </a:prstGeom>
          <a:solidFill>
            <a:srgbClr val="EEF9F7"/>
          </a:solidFill>
          <a:ln w="19050">
            <a:solidFill>
              <a:srgbClr val="00A896"/>
            </a:solidFill>
          </a:ln>
        </p:spPr>
        <p:txBody>
          <a:bodyPr wrap="square" lIns="164592" rIns="128016" tIns="54864" bIns="54864" anchor="ctr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Recommended:  Step 1 — :fixed_ratio (α=0.1)  verify pipeline    Step 2 — :ebic  production networks    Step 3 — :bstars_2d  gold-standard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0">
            <a:solidFill>
              <a:srgbClr val="0D1B2A"/>
            </a:solidFill>
          </a:ln>
        </p:spPr>
        <p:txBody>
          <a:bodyPr wrap="square" lIns="292608" rIns="18288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Elastic Net — Why It Belongs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594360"/>
          </a:xfrm>
          <a:prstGeom prst="rect">
            <a:avLst/>
          </a:prstGeom>
          <a:solidFill>
            <a:srgbClr val="E8F0F8"/>
          </a:solidFill>
          <a:ln w="9525">
            <a:solidFill>
              <a:srgbClr val="D0DDE8"/>
            </a:solidFill>
          </a:ln>
        </p:spPr>
        <p:txBody>
          <a:bodyPr wrap="square" lIns="91440" rIns="91440" tIns="45720" bIns="45720" anchor="ctr">
            <a:spAutoFit/>
          </a:bodyPr>
          <a:lstStyle/>
          <a:p xmlns:a14="http://schemas.microsoft.com/office/drawing/2010/main" xmlns:m="http://schemas.openxmlformats.org/officeDocument/2006/math">
            <a14:m>
              <m:oMathPara>
                <m:oMathParaPr>
                  <m:jc m:val="center"/>
                </m:oMathParaPr>
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<m:sSub>
                    <m:e>
                      <m:r>
                        <m:t>λ</m:t>
                      </m:r>
                    </m:e>
                    <m:sub>
                      <m:r>
                        <m:t>s</m:t>
                      </m:r>
                    </m:sub>
                  </m:sSub>
                  <m:d>
                    <m:dPr>
                      <m:begChr m:val="["/>
                      <m:endChr m:val="]"/>
                      <m:sepChr m:val=""/>
                      <m:grow/>
                    </m:dPr>
                    <m:e>
                      <m:r>
                        <m:t>α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m:t>Φ</m:t>
                                  </m:r>
                                </m:e>
                                <m:sub>
                                  <m: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d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d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α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Sup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d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</m:e>
                      </m:nary>
                    </m:e>
                  </m:d>
                  <m:r>
                    <m:t> </m:t>
                  </m:r>
                  <m:r>
                    <m:t>α</m:t>
                  </m:r>
                  <m:r>
                    <m:rPr>
                      <m:sty m:val="p"/>
                    </m:rPr>
                    <m:t>=</m:t>
                  </m:r>
                  <m:r>
                    <m:t>1</m:t>
                  </m:r>
                  <m:r>
                    <m:rPr>
                      <m:sty m:val="p"/>
                    </m:rPr>
                    <m:t>:</m:t>
                  </m:r>
                  <m:r>
                    <m:rPr>
                      <m:nor/>
                      <m:sty m:val="p"/>
                    </m:rPr>
                    <m:t>LASSO</m:t>
                  </m:r>
                  <m:r>
                    <m:rPr>
                      <m:sty m:val="p"/>
                    </m:rPr>
                    <m:t>,</m:t>
                  </m:r>
                  <m:r>
                    <m:t> </m:t>
                  </m:r>
                  <m:r>
                    <m:t>α</m:t>
                  </m:r>
                  <m:r>
                    <m:rPr>
                      <m:sty m:val="p"/>
                    </m:rPr>
                    <m:t>=</m:t>
                  </m:r>
                  <m:r>
                    <m:t>0</m:t>
                  </m:r>
                  <m:r>
                    <m:rPr>
                      <m:sty m:val="p"/>
                    </m:rPr>
                    <m:t>:</m:t>
                  </m:r>
                  <m:r>
                    <m:rPr>
                      <m:nor/>
                      <m:sty m:val="p"/>
                    </m:rPr>
                    <m:t>ridge</m:t>
                  </m:r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74320" y="1444752"/>
            <a:ext cx="41605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00A896"/>
                </a:solidFill>
              </a:rPr>
              <a:t>Correlated TF activities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Pure LASSO arbitrarily picks one TF when two have correlated activities. Elastic net distributes weight across both — more biologically interpretable.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59" y="1444752"/>
            <a:ext cx="41605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47F00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C47F00"/>
                </a:solidFill>
              </a:rPr>
              <a:t>Demerged TFs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After mergeDegenerateTFs expands meta-TFs back to individuals, those TFs share identical target sets — perfectly correlated by 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182112"/>
            <a:ext cx="41605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Small per-task sample size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After splitting by cell type, each task may have only 10–20 pseudobulk samples. L2 regularisation stabilises estimates in this low-sample regime.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59" y="3182112"/>
            <a:ext cx="41605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txBody>
          <a:bodyPr wrap="square" lIns="146304" rIns="128016" tIns="128016" bIns="91440" anchor="t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ADMM synergy
</a:t>
            </a:r>
            <a:r>
              <a:rPr sz="700" b="0" i="0">
                <a:solidFill>
                  <a:srgbClr val="D0DDE8"/>
                </a:solidFill>
              </a:rPr>
              <a:t>──────────────────────────────────────
</a:t>
            </a:r>
            <a:r>
              <a:rPr sz="1100" b="0" i="0">
                <a:solidFill>
                  <a:srgbClr val="1A2B3C"/>
                </a:solidFill>
              </a:rPr>
              <a:t>The W-update adds a quadratic proximity term (ρ/2)‖w−Z+U‖². Elastic net L2 integrates cleanly, improving numerical conditioning.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0">
            <a:solidFill>
              <a:srgbClr val="0D1B2A"/>
            </a:solidFill>
          </a:ln>
        </p:spPr>
        <p:txBody>
          <a:bodyPr wrap="square" lIns="292608" rIns="18288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Elastic Net — Full Objective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E8F0F8"/>
          </a:solidFill>
          <a:ln w="9525">
            <a:solidFill>
              <a:srgbClr val="D0DDE8"/>
            </a:solidFill>
          </a:ln>
        </p:spPr>
        <p:txBody>
          <a:bodyPr wrap="square" lIns="91440" rIns="91440" tIns="45720" bIns="45720" anchor="ctr">
            <a:spAutoFit/>
          </a:bodyPr>
          <a:lstStyle/>
          <a:p xmlns:a14="http://schemas.microsoft.com/office/drawing/2010/main" xmlns:m="http://schemas.openxmlformats.org/officeDocument/2006/math">
            <a14:m>
              <m:oMathPara>
                <m:oMathParaPr>
                  <m:jc m:val="center"/>
                </m:oMathParaPr>
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<m:limLow>
                    <m:e>
                      <m:r>
                        <m:rPr>
                          <m:sty m:val="p"/>
                        </m:rPr>
                        <m:t>min</m:t>
                      </m:r>
                    </m:e>
                    <m:lim>
                      <m:r>
                        <m:t>w</m:t>
                      </m:r>
                    </m:lim>
                  </m:limLow>
                  <m:r>
                    <m:t> 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2</m:t>
                      </m:r>
                      <m:r>
                        <m:t>n</m:t>
                      </m:r>
                    </m:den>
                  </m:f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m:t>d</m:t>
                      </m:r>
                    </m:sub>
                    <m:sup>
                      <m:r>
                        <m:t>​</m:t>
                      </m:r>
                    </m:sup>
                    <m:e>
                      <m:r>
                        <m:rPr>
                          <m:sty m:val="p"/>
                        </m:rPr>
                        <m:t>∥</m:t>
                      </m:r>
                    </m:e>
                  </m:nary>
                  <m:sSubSup>
                    <m:e>
                      <m:r>
                        <m:t>X</m:t>
                      </m:r>
                    </m:e>
                    <m:sub>
                      <m:r>
                        <m:t>i</m:t>
                      </m:r>
                    </m:sub>
                    <m: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</m:e>
                      </m:d>
                    </m:sup>
                  </m:sSubSup>
                  <m:r>
                    <m:rPr>
                      <m:sty m:val="p"/>
                    </m:rPr>
                    <m:t>−</m:t>
                  </m:r>
                  <m:sSup>
                    <m:e>
                      <m:r>
                        <m:t>A</m:t>
                      </m:r>
                    </m:e>
                    <m: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</m:e>
                      </m:d>
                      <m:r>
                        <m:t>T</m:t>
                      </m:r>
                    </m:sup>
                  </m:sSup>
                  <m:sSubSup>
                    <m:e>
                      <m:r>
                        <m:t>w</m:t>
                      </m:r>
                    </m:e>
                    <m:sub>
                      <m:r>
                        <m:t>i</m:t>
                      </m:r>
                    </m:sub>
                    <m: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</m:e>
                      </m:d>
                    </m:sup>
                  </m:sSubSup>
                  <m:sSubSup>
                    <m:e>
                      <m:r>
                        <m:rPr>
                          <m:sty m:val="p"/>
                        </m:rPr>
                        <m:t>∥</m:t>
                      </m:r>
                    </m:e>
                    <m:sub>
                      <m:r>
                        <m:t>2</m:t>
                      </m:r>
                    </m:sub>
                    <m:sup>
                      <m:r>
                        <m:t>2</m:t>
                      </m:r>
                    </m:sup>
                  </m:sSubSup>
                  <m:r>
                    <m:rPr>
                      <m:sty m:val="p"/>
                    </m:rPr>
                    <m:t>+</m:t>
                  </m:r>
                  <m:sSub>
                    <m:e>
                      <m:r>
                        <m:t>λ</m:t>
                      </m:r>
                    </m:e>
                    <m:sub>
                      <m:r>
                        <m:t>s</m:t>
                      </m:r>
                    </m:sub>
                  </m:sSub>
                  <m:d>
                    <m:dPr>
                      <m:begChr m:val="["/>
                      <m:endChr m:val="]"/>
                      <m:sepChr m:val=""/>
                      <m:grow/>
                    </m:dPr>
                    <m:e>
                      <m:r>
                        <m:t>α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m:t>Φ</m:t>
                                  </m:r>
                                </m:e>
                                <m:sub>
                                  <m: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d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m:t>w</m:t>
                                  </m:r>
                                </m:e>
                                <m:sub>
                                  <m: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d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α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Sup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d</m:t>
                              </m:r>
                            </m:sub>
                            <m:sup>
                              <m:r>
                                <m:t>2</m:t>
                              </m:r>
                            </m:sup>
                          </m:sSubSup>
                        </m:e>
                      </m:nary>
                    </m:e>
                  </m:d>
                  <m:r>
                    <m:rPr>
                      <m:sty m:val="p"/>
                    </m:rPr>
                    <m:t>+</m:t>
                  </m:r>
                  <m:sSub>
                    <m:e>
                      <m:r>
                        <m:t>λ</m:t>
                      </m:r>
                    </m:e>
                    <m:sub>
                      <m:r>
                        <m:t>f</m:t>
                      </m:r>
                    </m:sub>
                  </m:sSub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′</m:t>
                          </m:r>
                        </m:e>
                      </m:d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ty m:val="p"/>
                          <m:scr m:val="script"/>
                        </m:rPr>
                        <m:t>E</m:t>
                      </m:r>
                    </m:sub>
                    <m:sup>
                      <m:r>
                        <m:t>​</m:t>
                      </m:r>
                    </m:sup>
                    <m:e>
                      <m:r>
                        <m:rPr>
                          <m:sty m:val="p"/>
                        </m:rPr>
                        <m:t>s</m:t>
                      </m:r>
                      <m:r>
                        <m:rPr>
                          <m:sty m:val="p"/>
                        </m:rPr>
                        <m:t>i</m:t>
                      </m:r>
                      <m:r>
                        <m:rPr>
                          <m:sty m:val="p"/>
                        </m:rPr>
                        <m:t>m</m:t>
                      </m:r>
                    </m:e>
                  </m:nary>
                  <m:d>
                    <m:dPr>
                      <m:begChr m:val="("/>
                      <m:endChr m:val=")"/>
                      <m:sepChr m:val=""/>
                      <m:grow/>
                    </m:dPr>
                    <m:e>
                      <m:r>
                        <m:t>d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′</m:t>
                      </m:r>
                    </m:e>
                  </m:d>
                  <m:r>
                    <m:rPr>
                      <m:sty m:val="p"/>
                    </m:rPr>
                    <m:t>∥</m:t>
                  </m:r>
                  <m:sSup>
                    <m:e>
                      <m:r>
                        <m:t>w</m:t>
                      </m:r>
                    </m:e>
                    <m: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</m:e>
                      </m:d>
                    </m:sup>
                  </m:sSup>
                  <m:r>
                    <m:rPr>
                      <m:sty m:val="p"/>
                    </m:rPr>
                    <m:t>−</m:t>
                  </m:r>
                  <m:sSup>
                    <m:e>
                      <m:r>
                        <m:t>w</m:t>
                      </m:r>
                    </m:e>
                    <m: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d</m:t>
                          </m:r>
                          <m:r>
                            <m:rPr>
                              <m:sty m:val="p"/>
                            </m:rPr>
                            <m:t>′</m:t>
                          </m:r>
                        </m:e>
                      </m:d>
                    </m:sup>
                  </m:sSup>
                  <m:sSub>
                    <m:e>
                      <m:r>
                        <m:rPr>
                          <m:sty m:val="p"/>
                        </m:rPr>
                        <m:t>∥</m:t>
                      </m:r>
                    </m:e>
                    <m:sub>
                      <m:r>
                        <m:t>1</m:t>
                      </m:r>
                    </m:sub>
                  </m:sSub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74320" y="1664208"/>
            <a:ext cx="484632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664208"/>
            <a:ext cx="3749039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Recommended elasticNetAlpha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48256"/>
            <a:ext cx="4846320" cy="384048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Many correlated TFs, small per-task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048256"/>
            <a:ext cx="3749039" cy="384048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00A896"/>
                </a:solidFill>
              </a:rPr>
              <a:t>0.5 — balanced L1/L2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32304"/>
            <a:ext cx="4846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Demerged TFs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432304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00A896"/>
                </a:solidFill>
              </a:rPr>
              <a:t>0.5–0.7 — group correlated predictors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16352"/>
            <a:ext cx="4846320" cy="384048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Few correlated TFs, adequate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816352"/>
            <a:ext cx="3749039" cy="384048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00A896"/>
                </a:solidFill>
              </a:rPr>
              <a:t>0.9 — near-LASSO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00400"/>
            <a:ext cx="4846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0" i="0">
                <a:solidFill>
                  <a:srgbClr val="1A2B3C"/>
                </a:solidFill>
              </a:rPr>
              <a:t>Pure LASSO behaviour desired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200400"/>
            <a:ext cx="37490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wrap="square" lIns="91440" rIns="73152" tIns="36576" bIns="36576" anchor="ctr">
            <a:spAutoFit/>
          </a:bodyPr>
          <a:lstStyle/>
          <a:p>
            <a:pPr algn="l"/>
            <a:r>
              <a:rPr sz="1050" b="1" i="0">
                <a:solidFill>
                  <a:srgbClr val="00A896"/>
                </a:solidFill>
              </a:rPr>
              <a:t>1.0 — original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419856"/>
            <a:ext cx="8595360" cy="658368"/>
          </a:xfrm>
          <a:prstGeom prst="rect">
            <a:avLst/>
          </a:prstGeom>
          <a:solidFill>
            <a:srgbClr val="1A2B3C"/>
          </a:solidFill>
          <a:ln w="6350">
            <a:solidFill>
              <a:srgbClr val="D0DDE8"/>
            </a:solidFill>
          </a:ln>
        </p:spPr>
        <p:txBody>
          <a:bodyPr wrap="square" lIns="164592" rIns="128016" tIns="73152" bIns="73152" anchor="ctr">
            <a:spAutoFit/>
          </a:bodyPr>
          <a:lstStyle/>
          <a:p>
            <a:pPr algn="l"/>
            <a:r>
              <a:rPr sz="1050" b="0" i="0">
                <a:solidFill>
                  <a:srgbClr val="7DD3FC"/>
                </a:solidFill>
              </a:rPr>
              <a:t># admm.jl W-update — single line change:</a:t>
            </a:r>
          </a:p>
          <a:p>
            <a:pPr algn="l"/>
            <a:r>
              <a:rPr sz="1050" b="0" i="0">
                <a:solidFill>
                  <a:srgbClr val="7DD3FC"/>
                </a:solidFill>
              </a:rPr>
              <a:t>lsoln = glmnet(augA, augX, penalty_factor=augPenalty, lambda=[λs], alpha=elasticNetAlpha)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187952"/>
            <a:ext cx="8595360" cy="566928"/>
          </a:xfrm>
          <a:prstGeom prst="rect">
            <a:avLst/>
          </a:prstGeom>
          <a:solidFill>
            <a:srgbClr val="FFF8EE"/>
          </a:solidFill>
          <a:ln w="19050">
            <a:solidFill>
              <a:srgbClr val="C47F00"/>
            </a:solidFill>
          </a:ln>
        </p:spPr>
        <p:txBody>
          <a:bodyPr wrap="square" lIns="164592" rIns="128016" tIns="54864" bIns="54864" anchor="ctr">
            <a:spAutoFit/>
          </a:bodyPr>
          <a:lstStyle/>
          <a:p>
            <a:pPr algn="l"/>
            <a:r>
              <a:rPr sz="1050" b="0" i="1">
                <a:solidFill>
                  <a:srgbClr val="1A2B3C"/>
                </a:solidFill>
              </a:rPr>
              <a:t>Note: elasticNetAlpha (L1/L2 mix) is distinct from fusionRatio (λf = fusionRatio × λs in Option 1). Both named explicitly to avoid confusion.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73152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987552"/>
            <a:ext cx="2267712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1" i="0">
                <a:solidFill>
                  <a:srgbClr val="00A896"/>
                </a:solidFill>
              </a:rPr>
              <a:t>Two lambdas, not one: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87552"/>
            <a:ext cx="6053328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λf adds a second free parameter requiring joint selection with λs.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55648"/>
            <a:ext cx="73152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600200"/>
            <a:ext cx="2267712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1" i="0">
                <a:solidFill>
                  <a:srgbClr val="00A896"/>
                </a:solidFill>
              </a:rPr>
              <a:t>Start simple: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00200"/>
            <a:ext cx="6053328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Option 1 (fixed ratio, α = 0.1) adds zero cost — sufficient for initial runs.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68296"/>
            <a:ext cx="73152" cy="256032"/>
          </a:xfrm>
          <a:prstGeom prst="rect">
            <a:avLst/>
          </a:prstGeom>
          <a:solidFill>
            <a:srgbClr val="C4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2212848"/>
            <a:ext cx="2267712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1" i="0">
                <a:solidFill>
                  <a:srgbClr val="C47F00"/>
                </a:solidFill>
              </a:rPr>
              <a:t>Go principled for production: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12848"/>
            <a:ext cx="6053328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Option 2 (EBIC grid) jointly selects both parameters.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80944"/>
            <a:ext cx="73152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2825496"/>
            <a:ext cx="2267712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</a:rPr>
              <a:t>Benchmark with bStARS: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25496"/>
            <a:ext cx="6053328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Option 3 (2D bStARS) extends stability criterion to both λs and λf.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93592"/>
            <a:ext cx="73152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3438144"/>
            <a:ext cx="2267712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1" i="0">
                <a:solidFill>
                  <a:srgbClr val="02C39A"/>
                </a:solidFill>
              </a:rPr>
              <a:t>Elastic net is a free upgrade: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438144"/>
            <a:ext cx="6053328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Set elasticNetAlpha = 0.5 whenever demerged TFs are present.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73152" cy="2560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4050791"/>
            <a:ext cx="2267712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1" i="0">
                <a:solidFill>
                  <a:srgbClr val="00A896"/>
                </a:solidFill>
              </a:rPr>
              <a:t>Starting recommendation: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50791"/>
            <a:ext cx="6053328" cy="530352"/>
          </a:xfrm>
          <a:prstGeom prst="rect">
            <a:avLst/>
          </a:prstGeom>
          <a:noFill/>
          <a:ln>
            <a:noFill/>
          </a:ln>
        </p:spPr>
        <p:txBody>
          <a:bodyPr wrap="square" lIns="109728" rIns="91440" tIns="73152" bIns="73152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lambdaOpt = :fixed_ratio,  fusionRatio = 0.1,  elasticNetAlpha = 0.5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